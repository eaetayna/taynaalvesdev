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94" r:id="rId3"/>
    <p:sldId id="260" r:id="rId4"/>
    <p:sldId id="285" r:id="rId5"/>
    <p:sldId id="288" r:id="rId6"/>
    <p:sldId id="287" r:id="rId7"/>
    <p:sldId id="286" r:id="rId8"/>
    <p:sldId id="293" r:id="rId9"/>
    <p:sldId id="274" r:id="rId10"/>
    <p:sldId id="275" r:id="rId11"/>
    <p:sldId id="289" r:id="rId12"/>
    <p:sldId id="291" r:id="rId13"/>
    <p:sldId id="276" r:id="rId14"/>
    <p:sldId id="267" r:id="rId15"/>
    <p:sldId id="273" r:id="rId16"/>
    <p:sldId id="292" r:id="rId17"/>
    <p:sldId id="290" r:id="rId18"/>
    <p:sldId id="295" r:id="rId19"/>
    <p:sldId id="259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78C5CA6-7683-43C8-8345-F72C5CC2C0DE}">
          <p14:sldIdLst/>
        </p14:section>
        <p14:section name="Start" id="{91818567-F97A-49AA-AD90-C9D01801C159}">
          <p14:sldIdLst>
            <p14:sldId id="256"/>
            <p14:sldId id="294"/>
            <p14:sldId id="260"/>
          </p14:sldIdLst>
        </p14:section>
        <p14:section name="Seção do Resumo" id="{60F897AA-62B5-4CF9-95F3-D6CD6DC7E826}">
          <p14:sldIdLst/>
        </p14:section>
        <p14:section name="Conversão" id="{66430D53-3E92-4BB7-9C1A-0FE634A865CA}">
          <p14:sldIdLst>
            <p14:sldId id="285"/>
          </p14:sldIdLst>
        </p14:section>
        <p14:section name="Seção 2" id="{9D8E44FF-18EA-4309-B11B-D2016A0F3901}">
          <p14:sldIdLst>
            <p14:sldId id="288"/>
          </p14:sldIdLst>
        </p14:section>
        <p14:section name="Seção 3" id="{27C2E814-63F6-4035-9CDD-456FD4A9EBC1}">
          <p14:sldIdLst>
            <p14:sldId id="287"/>
          </p14:sldIdLst>
        </p14:section>
        <p14:section name="Seção 4" id="{A06FF5B5-548A-4BE9-B729-98E3A0E658DA}">
          <p14:sldIdLst>
            <p14:sldId id="286"/>
          </p14:sldIdLst>
        </p14:section>
        <p14:section name="Seção 5" id="{132557C9-88F0-487B-8049-7C1E989BB140}">
          <p14:sldIdLst>
            <p14:sldId id="293"/>
          </p14:sldIdLst>
        </p14:section>
        <p14:section name="Transações" id="{F4317FDB-7209-4AE9-962E-B6366C9F3733}">
          <p14:sldIdLst>
            <p14:sldId id="274"/>
          </p14:sldIdLst>
        </p14:section>
        <p14:section name="Seção 7" id="{0B447E1D-666E-4377-AB77-2BD8BF8E3255}">
          <p14:sldIdLst>
            <p14:sldId id="275"/>
          </p14:sldIdLst>
        </p14:section>
        <p14:section name="Seção 8" id="{1E527C71-5B6E-448C-B9DC-C39E3B741F0A}">
          <p14:sldIdLst>
            <p14:sldId id="289"/>
          </p14:sldIdLst>
        </p14:section>
        <p14:section name="Seção 9" id="{780A95AA-E815-49FB-82F9-6B32C52996FB}">
          <p14:sldIdLst>
            <p14:sldId id="291"/>
          </p14:sldIdLst>
        </p14:section>
        <p14:section name="Usabilidade e UX" id="{EAF7FD0E-DF5C-45BF-A074-F486DEDF778F}">
          <p14:sldIdLst>
            <p14:sldId id="276"/>
          </p14:sldIdLst>
        </p14:section>
        <p14:section name="Seção 11" id="{67452282-6A11-4DB4-B7F2-9E834CF0A91C}">
          <p14:sldIdLst>
            <p14:sldId id="267"/>
          </p14:sldIdLst>
        </p14:section>
        <p14:section name="Seção 12" id="{E20304F1-FD0D-4A6A-9907-5F3249177A6D}">
          <p14:sldIdLst>
            <p14:sldId id="273"/>
          </p14:sldIdLst>
        </p14:section>
        <p14:section name="Seção 13" id="{3BB81AB8-319D-4ACA-B937-6696ED696B75}">
          <p14:sldIdLst>
            <p14:sldId id="292"/>
          </p14:sldIdLst>
        </p14:section>
        <p14:section name="Outros Insights" id="{74CAB851-EDDF-495E-AC86-A1BBC104AF32}">
          <p14:sldIdLst>
            <p14:sldId id="290"/>
          </p14:sldIdLst>
        </p14:section>
        <p14:section name="Obrigada!" id="{A7DD357B-B4F5-40D0-9546-1253CAAE9C4B}">
          <p14:sldIdLst>
            <p14:sldId id="295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E5B0"/>
    <a:srgbClr val="03A53C"/>
    <a:srgbClr val="0C4A23"/>
    <a:srgbClr val="015927"/>
    <a:srgbClr val="00863A"/>
    <a:srgbClr val="02843A"/>
    <a:srgbClr val="4FCF92"/>
    <a:srgbClr val="B0FFA2"/>
    <a:srgbClr val="F5F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4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C373011-E90E-84B5-CD3C-DF20FD2BAA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822FFB-3062-FF63-8FB0-67136B41AC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3C174-9AA8-4E82-8291-408421600638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0CCEE7-79C3-6852-1F80-DE81467345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19521D-342B-1022-70F8-C6265572E7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05E81-978E-4F0B-9ADD-C416CE3C96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537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02D23-49B6-411C-A7A8-BA0CF22EEA44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1EDA5-192E-4104-94E5-536AD9D268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4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1EDA5-192E-4104-94E5-536AD9D2686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74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46896-0B7C-9836-7D0C-C3A12422B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0B610-9D81-8D20-BD3B-61969F2B9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4E34A0-0870-E154-0467-F2F6F08A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CF69EC-A788-CAB1-638A-FAAE30CB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2BFE65-4309-CF55-7D41-1B91B76F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785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EC52E-69AD-CAC2-FEE4-CD7D1A82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6DE90E-1EC9-4177-5E58-5DCA2F28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62F57F-7F29-C3C2-B001-368838D6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4246DD-BD60-060A-CCDC-1A6F65BE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5B697A-DB8A-416E-8FE5-558C47CA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4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AE4CD-B08C-58B8-3FE7-D592072D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6AA3F4-A6DA-333A-0E2B-C349849EC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B4E6D7-07A5-D5C7-D54E-BD794B9B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B8F6BF-7A16-DCD2-FF35-E8F15ADA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A812C3-C0AB-EB8B-EAE4-A2D3DEF4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47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77F08-3FA8-1907-EB54-EDDC0EB5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78D0E-045F-A241-B797-11F419DC6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D351BD-5122-14CF-A8B8-079574F09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A9642D-C171-BEB6-A261-898D169D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C4677B-9F5D-C4E7-C5F9-22E86D5E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08E766-C1FA-B941-E0FF-E7624362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28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FAABD-6EF5-61EF-0D78-FCBD97F0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321916-FD66-A4CD-09A1-EBD35D7A7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051E62-2AE3-468C-98C6-C340B1505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16FC95-E8D7-F6A1-DDE6-DD0BD8B78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09F4D9-F007-3D79-D5C5-BD8C76DAD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B8EE97-2646-298C-19FC-8668314D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23BA738-6581-85FA-A3E2-96C88BCAA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AEB5CD-BC11-BE3D-CFEE-CF037F8E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36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BFB10-666B-BA5D-16FC-9369C78C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BA47802-2BC1-FF31-DADE-57757C02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812C98-3BF4-8ED2-B6DC-3133F447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A71DE3-9F36-B992-1573-FFB54870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52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C63116-0B79-E2A8-1524-DE837A475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CA8709-89B0-CF2D-631D-A5909929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937F52-1ED6-C519-F7E2-3C1E6C6F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83549-FA0B-E3EF-DFE5-E5251CE7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D2B3C0-9E12-645E-D6EA-D35C09FD5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40A175-B797-2ED9-4EB9-6D29BEF72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2C73A0-87F9-A6DC-8399-9C0C798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CEB89B-68CA-E237-7368-0E3140DC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B83BBE-4095-3822-5A8F-B593D8EB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10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383EA-1F17-4126-DDFC-54AA80CB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3EED156-A303-68BE-BD79-7FF1C8F34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9B26B8-849D-E051-2B7B-33F2D6060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C29FE7-CD7D-9ACC-38D7-A79E79A0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161C3C-BFD8-C2DD-07B2-84D35DE6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946E96-75AA-789B-DDE6-2D9AB8D8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18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AC33C-929C-1E99-8D61-308C918D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2979C0-88B1-2022-2297-1306E0114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7B1782-EFEB-F939-E1D8-12357253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E9DCA3-207B-D797-2E7F-DB3B2193B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92F769-43DF-702D-685F-C31E8329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81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9FE5F7-D92A-3FC2-827C-6316D1154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54AD93-DE29-0B04-910A-C85413FA2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0E6E7-6470-47D2-4564-07BBDF81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7B85EA-13CD-E1DB-C7AC-46DDCD66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ED1471-5AA5-9AFF-5B1F-ABCFA8AF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70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9C1701B-9907-E10C-CEBA-F460809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6CBD5B-33E7-17EF-CA29-D6799D5B7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9D999-406B-C694-C57D-4448F161D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54AFF-153B-4876-84B9-7CBFE330E810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3F21BD-ECC0-3392-8DC8-E9564B17C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BE803A-2445-2BC4-3DD9-EF4410B2F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CDD17-BF4D-41F2-9A99-D29550B2A2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50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slide" Target="slide5.xml"/><Relationship Id="rId26" Type="http://schemas.openxmlformats.org/officeDocument/2006/relationships/slide" Target="slide13.xml"/><Relationship Id="rId3" Type="http://schemas.openxmlformats.org/officeDocument/2006/relationships/image" Target="../media/image3.png"/><Relationship Id="rId21" Type="http://schemas.openxmlformats.org/officeDocument/2006/relationships/slide" Target="slide8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.xml"/><Relationship Id="rId25" Type="http://schemas.openxmlformats.org/officeDocument/2006/relationships/slide" Target="slide12.xml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slide" Target="slide7.xml"/><Relationship Id="rId29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slide" Target="slide11.xml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slide" Target="slide10.xml"/><Relationship Id="rId28" Type="http://schemas.openxmlformats.org/officeDocument/2006/relationships/slide" Target="slide15.xml"/><Relationship Id="rId10" Type="http://schemas.openxmlformats.org/officeDocument/2006/relationships/image" Target="../media/image10.png"/><Relationship Id="rId19" Type="http://schemas.openxmlformats.org/officeDocument/2006/relationships/slide" Target="slide6.xml"/><Relationship Id="rId31" Type="http://schemas.openxmlformats.org/officeDocument/2006/relationships/slide" Target="slide18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slide" Target="slide9.xml"/><Relationship Id="rId27" Type="http://schemas.openxmlformats.org/officeDocument/2006/relationships/slide" Target="slide14.xml"/><Relationship Id="rId30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0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sql/online-compiler" TargetMode="External"/><Relationship Id="rId7" Type="http://schemas.openxmlformats.org/officeDocument/2006/relationships/hyperlink" Target="https://jupyter.org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hyperlink" Target="https://voyant-tools.org/" TargetMode="External"/><Relationship Id="rId4" Type="http://schemas.openxmlformats.org/officeDocument/2006/relationships/slide" Target="slide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api.whatsapp.com/send/?phone=%2B5511964310413&amp;text&amp;type=phone_number&amp;app_absent=0" TargetMode="External"/><Relationship Id="rId7" Type="http://schemas.openxmlformats.org/officeDocument/2006/relationships/hyperlink" Target="malito:taynaalves.dev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hyperlink" Target="https://www.linkedin.com/in/taynaalves-dev/" TargetMode="Externa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CF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F3B51C6-39D6-FA27-1F0D-A5D186B0FCA1}"/>
              </a:ext>
            </a:extLst>
          </p:cNvPr>
          <p:cNvSpPr/>
          <p:nvPr/>
        </p:nvSpPr>
        <p:spPr>
          <a:xfrm>
            <a:off x="0" y="0"/>
            <a:ext cx="12192000" cy="43457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BB4008-8B5E-49BF-7115-023E2AF3C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786" y="1764696"/>
            <a:ext cx="9144000" cy="1065527"/>
          </a:xfrm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Case Analítico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1A3E5C-874F-397D-0CC6-5BB5F1BDB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7786" y="2897311"/>
            <a:ext cx="9144000" cy="1655762"/>
          </a:xfrm>
        </p:spPr>
        <p:txBody>
          <a:bodyPr/>
          <a:lstStyle/>
          <a:p>
            <a:endParaRPr lang="pt-BR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Análise de Problemas e Propostas de Solução na Plataforma de Apostas </a:t>
            </a:r>
            <a:r>
              <a:rPr lang="pt-BR" b="1" dirty="0" err="1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PicPay</a:t>
            </a:r>
            <a:endParaRPr lang="pt-BR" b="1" dirty="0">
              <a:solidFill>
                <a:srgbClr val="7DE5B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6D8A1975-A5DD-5FB6-4A7B-DEAC604337B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9FC0C76D-D2D8-8750-734B-B906BFEDB312}"/>
              </a:ext>
            </a:extLst>
          </p:cNvPr>
          <p:cNvSpPr txBox="1">
            <a:spLocks/>
          </p:cNvSpPr>
          <p:nvPr/>
        </p:nvSpPr>
        <p:spPr>
          <a:xfrm>
            <a:off x="3403617" y="4678337"/>
            <a:ext cx="5156921" cy="1304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Análise por: </a:t>
            </a:r>
          </a:p>
          <a:p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Tayná Alves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Data </a:t>
            </a:r>
            <a:r>
              <a:rPr lang="pt-BR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&amp;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BI Data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Analyst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3BB18F8-7070-E7C3-4152-3DB6DEC8F600}"/>
              </a:ext>
            </a:extLst>
          </p:cNvPr>
          <p:cNvSpPr txBox="1">
            <a:spLocks/>
          </p:cNvSpPr>
          <p:nvPr/>
        </p:nvSpPr>
        <p:spPr>
          <a:xfrm>
            <a:off x="1410078" y="5982498"/>
            <a:ext cx="9144000" cy="411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>
                <a:latin typeface="Roboto" panose="02000000000000000000" pitchFamily="2" charset="0"/>
                <a:ea typeface="Roboto" panose="02000000000000000000" pitchFamily="2" charset="0"/>
              </a:rPr>
              <a:t>10 </a:t>
            </a:r>
            <a:r>
              <a:rPr lang="pt-BR" sz="2000" b="1" dirty="0" err="1">
                <a:latin typeface="Roboto" panose="02000000000000000000" pitchFamily="2" charset="0"/>
                <a:ea typeface="Roboto" panose="02000000000000000000" pitchFamily="2" charset="0"/>
              </a:rPr>
              <a:t>Nov</a:t>
            </a:r>
            <a:r>
              <a:rPr lang="pt-BR" sz="2000" b="1" dirty="0">
                <a:latin typeface="Roboto" panose="02000000000000000000" pitchFamily="2" charset="0"/>
                <a:ea typeface="Roboto" panose="02000000000000000000" pitchFamily="2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97950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E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9" name="Zoom do Resumo 58">
                <a:extLst>
                  <a:ext uri="{FF2B5EF4-FFF2-40B4-BE49-F238E27FC236}">
                    <a16:creationId xmlns:a16="http://schemas.microsoft.com/office/drawing/2014/main" id="{C7EB5ED5-B63D-21CA-4928-7CA74869B71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6938193"/>
                  </p:ext>
                </p:extLst>
              </p:nvPr>
            </p:nvGraphicFramePr>
            <p:xfrm>
              <a:off x="546100" y="1882767"/>
              <a:ext cx="10883900" cy="4841876"/>
            </p:xfrm>
            <a:graphic>
              <a:graphicData uri="http://schemas.microsoft.com/office/powerpoint/2016/summaryzoom">
                <psuz:summaryZm>
                  <psuz:summaryZmObj sectionId="{66430D53-3E92-4BB7-9C1A-0FE634A865CA}" offsetFactorX="648" offsetFactorY="-35967">
                    <psuz:zmPr id="{CF3830D2-8775-4586-B038-1DA1762CF43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9958" y="298127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D8E44FF-18EA-4309-B11B-D2016A0F3901}" offsetFactorX="648" offsetFactorY="-35967">
                    <psuz:zmPr id="{D03B16FD-EA7C-486E-A671-19DCD8B1291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442526" y="298127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7C2E814-63F6-4035-9CDD-456FD4A9EBC1}" offsetFactorX="648" offsetFactorY="-35967">
                    <psuz:zmPr id="{8C75EF53-9FF2-4358-B42C-50F12489F6F6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475094" y="298127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06FF5B5-548A-4BE9-B729-98E3A0E658DA}" offsetFactorX="648" offsetFactorY="-35967">
                    <psuz:zmPr id="{2C855579-57C8-4A64-99A7-747EB2B7A1E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507662" y="298127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32557C9-88F0-487B-8049-7C1E989BB140}" offsetFactorX="648" offsetFactorY="-35967">
                    <psuz:zmPr id="{23D98C51-B19A-418C-B3D3-8795151F65DD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540230" y="298127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4317FDB-7209-4AE9-962E-B6366C9F3733}" offsetFactorX="591" offsetFactorY="1872">
                    <psuz:zmPr id="{223A3D63-5EDE-4283-B926-2E291134F93A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8841" y="1890570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B447E1D-666E-4377-AB77-2BD8BF8E3255}" offsetFactorX="591" offsetFactorY="1872">
                    <psuz:zmPr id="{8B40EDFD-00DF-4014-BF12-C4AA512430AF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441409" y="1890570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E527C71-5B6E-448C-B9DC-C39E3B741F0A}" offsetFactorX="591" offsetFactorY="1872">
                    <psuz:zmPr id="{003B1E7D-5C36-4477-B786-1FA3FD3588C7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473977" y="1890570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80A95AA-E815-49FB-82F9-6B32C52996FB}" offsetFactorX="591" offsetFactorY="1872">
                    <psuz:zmPr id="{E40C28B5-25D8-4EC8-9D17-5A6BBC683F6C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506545" y="1890570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AF7FD0E-DF5C-45BF-A074-F486DEDF778F}" offsetFactorX="-413587" offsetFactorY="150659">
                    <psuz:zmPr id="{3935583C-C14C-43AC-B285-771057573DD0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24944" y="3530194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7452282-6A11-4DB4-B7F2-9E834CF0A91C}" offsetFactorX="104341" offsetFactorY="42840">
                    <psuz:zmPr id="{CD86D0F2-8568-43A6-AAB3-CB9F12DEE44B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441410" y="3517495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20304F1-FD0D-4A6A-9907-5F3249177A6D}" offsetFactorX="104341" offsetFactorY="42840">
                    <psuz:zmPr id="{C4FC7404-530A-4945-87CF-12CEA938943D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473978" y="3517495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BB81AB8-319D-4ACA-B937-6696ED696B75}" offsetFactorX="104341" offsetFactorY="42840">
                    <psuz:zmPr id="{2CDF1666-8AFD-4466-BB6D-2A984BF4ACBB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506546" y="3517495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4CAB851-EDDF-495E-AC86-A1BBC104AF32}" offsetFactorX="106351" offsetFactorY="-100342">
                    <psuz:zmPr id="{C025F476-029C-4E73-8CD4-41A12A28502E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578492" y="1939638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7DD357B-B4F5-40D0-9546-1253CAAE9C4B}" offsetFactorX="2601" offsetFactorY="43848">
                    <psuz:zmPr id="{393721CD-A9C8-4DAE-82DA-4197C98D4ADF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578491" y="3528603"/>
                          <a:ext cx="1959102" cy="11019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9" name="Zoom do Resumo 58">
                <a:extLst>
                  <a:ext uri="{FF2B5EF4-FFF2-40B4-BE49-F238E27FC236}">
                    <a16:creationId xmlns:a16="http://schemas.microsoft.com/office/drawing/2014/main" id="{C7EB5ED5-B63D-21CA-4928-7CA74869B71A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546100" y="1882767"/>
                <a:ext cx="10883900" cy="4841876"/>
                <a:chOff x="546100" y="1882767"/>
                <a:chExt cx="10883900" cy="4841876"/>
              </a:xfrm>
            </p:grpSpPr>
            <p:pic>
              <p:nvPicPr>
                <p:cNvPr id="2" name="Imagem 2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56058" y="2180894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" name="Imagem 3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88626" y="2180894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Imagem 4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1194" y="2180894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5" name="Imagem 5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53762" y="2180894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Imagem 6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86330" y="2180894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Imagem 7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4941" y="3773337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Imagem 8">
                  <a:hlinkClick r:id="rId2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87509" y="3773337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Imagem 11">
                  <a:hlinkClick r:id="rId2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20077" y="3773337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Imagem 12">
                  <a:hlinkClick r:id="rId2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52645" y="3773337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Imagem 13">
                  <a:hlinkClick r:id="rId2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1044" y="5412961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Imagem 14">
                  <a:hlinkClick r:id="rId2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87510" y="5400262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Imagem 15">
                  <a:hlinkClick r:id="rId2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20078" y="5400262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Imagem 16">
                  <a:hlinkClick r:id="rId2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52646" y="5400262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Imagem 17">
                  <a:hlinkClick r:id="rId3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24592" y="3822405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Imagem 18">
                  <a:hlinkClick r:id="rId3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24591" y="5411370"/>
                  <a:ext cx="1959102" cy="110199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61" name="Retângulo 60">
            <a:extLst>
              <a:ext uri="{FF2B5EF4-FFF2-40B4-BE49-F238E27FC236}">
                <a16:creationId xmlns:a16="http://schemas.microsoft.com/office/drawing/2014/main" id="{BC2EAE66-E48C-BCAA-D2AC-BE9BEAD4D6E1}"/>
              </a:ext>
            </a:extLst>
          </p:cNvPr>
          <p:cNvSpPr/>
          <p:nvPr/>
        </p:nvSpPr>
        <p:spPr>
          <a:xfrm>
            <a:off x="9037341" y="3733800"/>
            <a:ext cx="2184400" cy="2781300"/>
          </a:xfrm>
          <a:prstGeom prst="rect">
            <a:avLst/>
          </a:prstGeom>
          <a:noFill/>
          <a:ln>
            <a:solidFill>
              <a:srgbClr val="0C4A2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84A4F3-9F61-07C0-6714-948E62DBE26A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8F22E4A4-4F68-A6A3-1CD8-59D7D2564880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Índice</a:t>
            </a:r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Interativo</a:t>
            </a:r>
            <a:endParaRPr lang="pt-BR" sz="2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CaixaDeTexto 10">
            <a:extLst>
              <a:ext uri="{FF2B5EF4-FFF2-40B4-BE49-F238E27FC236}">
                <a16:creationId xmlns:a16="http://schemas.microsoft.com/office/drawing/2014/main" id="{3B42F540-D7D7-6164-31F5-B2104B63DE27}"/>
              </a:ext>
            </a:extLst>
          </p:cNvPr>
          <p:cNvSpPr txBox="1"/>
          <p:nvPr/>
        </p:nvSpPr>
        <p:spPr>
          <a:xfrm>
            <a:off x="861487" y="1749406"/>
            <a:ext cx="7746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Conversão</a:t>
            </a:r>
            <a:endParaRPr lang="pt-BR" sz="2000" b="1" dirty="0">
              <a:solidFill>
                <a:schemeClr val="bg1"/>
              </a:solidFill>
              <a:highlight>
                <a:srgbClr val="00863A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2" name="CaixaDeTexto 10">
            <a:extLst>
              <a:ext uri="{FF2B5EF4-FFF2-40B4-BE49-F238E27FC236}">
                <a16:creationId xmlns:a16="http://schemas.microsoft.com/office/drawing/2014/main" id="{DAC35939-AD31-BB5F-B457-F991FD54A561}"/>
              </a:ext>
            </a:extLst>
          </p:cNvPr>
          <p:cNvSpPr txBox="1"/>
          <p:nvPr/>
        </p:nvSpPr>
        <p:spPr>
          <a:xfrm>
            <a:off x="861487" y="3333690"/>
            <a:ext cx="7746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b="1" dirty="0" err="1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Transações</a:t>
            </a:r>
            <a:endParaRPr lang="pt-BR" sz="2000" b="1" dirty="0">
              <a:solidFill>
                <a:schemeClr val="bg1"/>
              </a:solidFill>
              <a:highlight>
                <a:srgbClr val="00863A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3" name="CaixaDeTexto 10">
            <a:extLst>
              <a:ext uri="{FF2B5EF4-FFF2-40B4-BE49-F238E27FC236}">
                <a16:creationId xmlns:a16="http://schemas.microsoft.com/office/drawing/2014/main" id="{5C93E6FE-4BD2-A4F5-FB81-4F82889FFE64}"/>
              </a:ext>
            </a:extLst>
          </p:cNvPr>
          <p:cNvSpPr txBox="1"/>
          <p:nvPr/>
        </p:nvSpPr>
        <p:spPr>
          <a:xfrm>
            <a:off x="861487" y="4965666"/>
            <a:ext cx="77461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b="1" dirty="0" err="1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0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 e UX</a:t>
            </a:r>
            <a:endParaRPr lang="pt-BR" sz="2000" b="1" dirty="0">
              <a:solidFill>
                <a:schemeClr val="bg1"/>
              </a:solidFill>
              <a:highlight>
                <a:srgbClr val="00863A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0" name="CaixaDeTexto 10">
            <a:extLst>
              <a:ext uri="{FF2B5EF4-FFF2-40B4-BE49-F238E27FC236}">
                <a16:creationId xmlns:a16="http://schemas.microsoft.com/office/drawing/2014/main" id="{36BA90A1-651D-56A5-9A03-8D1BA097D512}"/>
              </a:ext>
            </a:extLst>
          </p:cNvPr>
          <p:cNvSpPr txBox="1"/>
          <p:nvPr/>
        </p:nvSpPr>
        <p:spPr>
          <a:xfrm>
            <a:off x="9037341" y="3333690"/>
            <a:ext cx="218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0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Outros Insights</a:t>
            </a:r>
            <a:endParaRPr lang="pt-BR" sz="2000" b="1" dirty="0">
              <a:solidFill>
                <a:schemeClr val="bg1"/>
              </a:solidFill>
              <a:highlight>
                <a:srgbClr val="00863A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17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CF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E5998-F431-2054-C2E8-F87EAFE8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3C0375BF-DC71-8D46-C6BC-77A361AF3A7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0" name="CaixaDeTexto 10">
            <a:extLst>
              <a:ext uri="{FF2B5EF4-FFF2-40B4-BE49-F238E27FC236}">
                <a16:creationId xmlns:a16="http://schemas.microsoft.com/office/drawing/2014/main" id="{155DEDD5-A3CE-690B-3317-B2F5CF0BFE7C}"/>
              </a:ext>
            </a:extLst>
          </p:cNvPr>
          <p:cNvSpPr txBox="1"/>
          <p:nvPr/>
        </p:nvSpPr>
        <p:spPr>
          <a:xfrm>
            <a:off x="568135" y="978479"/>
            <a:ext cx="77461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Análise de Problemas e Propostas de Solução na Plataforma de Apostas</a:t>
            </a:r>
            <a:b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Apresentado por: Ricardo Cordão</a:t>
            </a:r>
            <a:b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Data: 31 de outubro de 2025</a:t>
            </a:r>
          </a:p>
        </p:txBody>
      </p:sp>
      <p:sp>
        <p:nvSpPr>
          <p:cNvPr id="11" name="CaixaDeTexto 12">
            <a:extLst>
              <a:ext uri="{FF2B5EF4-FFF2-40B4-BE49-F238E27FC236}">
                <a16:creationId xmlns:a16="http://schemas.microsoft.com/office/drawing/2014/main" id="{76B0F9D1-0752-74C6-E11D-6D428B1B32C8}"/>
              </a:ext>
            </a:extLst>
          </p:cNvPr>
          <p:cNvSpPr txBox="1"/>
          <p:nvPr/>
        </p:nvSpPr>
        <p:spPr>
          <a:xfrm>
            <a:off x="568135" y="2018380"/>
            <a:ext cx="1063927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				</a:t>
            </a:r>
            <a:r>
              <a:rPr lang="pt-BR" sz="2000" b="1" dirty="0">
                <a:latin typeface="Roboto" panose="02000000000000000000" pitchFamily="2" charset="0"/>
                <a:ea typeface="Roboto" panose="02000000000000000000" pitchFamily="2" charset="0"/>
              </a:rPr>
              <a:t>Contexto e </a:t>
            </a:r>
            <a:r>
              <a:rPr lang="pt-BR" sz="2000" b="1" dirty="0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Objetivo</a:t>
            </a:r>
          </a:p>
          <a:p>
            <a:pPr>
              <a:buNone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Contexto:</a:t>
            </a:r>
            <a:b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A plataforma de apostas vem enfrentando desafios relacionados à conversão de usuários, lentidão nas transações e dificuldades de navegação.</a:t>
            </a:r>
          </a:p>
          <a:p>
            <a:pPr>
              <a:buNone/>
            </a:pPr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None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Objetivo da análise:</a:t>
            </a:r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 Identificar as causas dos problemas relatados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 Avaliar o impacto nos indicadores operacionais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 Propor soluções baseadas em dados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 Comunicar insights aos 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 Acompanhar a implementação das melhorias</a:t>
            </a:r>
          </a:p>
        </p:txBody>
      </p:sp>
      <p:sp>
        <p:nvSpPr>
          <p:cNvPr id="12" name="CaixaDeTexto 13">
            <a:extLst>
              <a:ext uri="{FF2B5EF4-FFF2-40B4-BE49-F238E27FC236}">
                <a16:creationId xmlns:a16="http://schemas.microsoft.com/office/drawing/2014/main" id="{E2C85E66-FD9C-A5BD-DD5A-AEBC24358815}"/>
              </a:ext>
            </a:extLst>
          </p:cNvPr>
          <p:cNvSpPr txBox="1"/>
          <p:nvPr/>
        </p:nvSpPr>
        <p:spPr>
          <a:xfrm>
            <a:off x="568135" y="5390843"/>
            <a:ext cx="8765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Fontes de Dados Utilizadas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 Tabela </a:t>
            </a:r>
            <a:r>
              <a:rPr lang="pt-BR" b="1" dirty="0" err="1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users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: comportamento de cadastro e depósito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 Tabela </a:t>
            </a:r>
            <a:r>
              <a:rPr lang="pt-BR" b="1" dirty="0" err="1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bets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: tipo de aposta, tempo de transação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 Tabela </a:t>
            </a:r>
            <a:r>
              <a:rPr lang="pt-BR" b="1" dirty="0" err="1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user_feedback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</a:rPr>
              <a:t>: comentários e tipos de reclamação</a:t>
            </a:r>
          </a:p>
        </p:txBody>
      </p:sp>
    </p:spTree>
    <p:extLst>
      <p:ext uri="{BB962C8B-B14F-4D97-AF65-F5344CB8AC3E}">
        <p14:creationId xmlns:p14="http://schemas.microsoft.com/office/powerpoint/2010/main" val="252500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0799-89A5-A16E-60EF-552DC29D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Círculo&#10;&#10;O conteúdo gerado por IA pode estar incorreto.">
            <a:extLst>
              <a:ext uri="{FF2B5EF4-FFF2-40B4-BE49-F238E27FC236}">
                <a16:creationId xmlns:a16="http://schemas.microsoft.com/office/drawing/2014/main" id="{15D64AE9-E57F-0BCB-BF25-F4A9881D9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528" y="1556960"/>
            <a:ext cx="7125674" cy="5347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496966AE-3E9A-BAFE-DD79-D309F7BF484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B6B07E8-059F-A112-DA3F-F977D2FFDC06}"/>
              </a:ext>
            </a:extLst>
          </p:cNvPr>
          <p:cNvSpPr/>
          <p:nvPr/>
        </p:nvSpPr>
        <p:spPr>
          <a:xfrm>
            <a:off x="1447935" y="4869046"/>
            <a:ext cx="2049102" cy="1238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Retenção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0206934-DDD3-A2E7-E8EF-C1B8512D5DD5}"/>
              </a:ext>
            </a:extLst>
          </p:cNvPr>
          <p:cNvSpPr/>
          <p:nvPr/>
        </p:nvSpPr>
        <p:spPr>
          <a:xfrm>
            <a:off x="8410837" y="4701029"/>
            <a:ext cx="2049102" cy="1238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Conversão</a:t>
            </a:r>
          </a:p>
        </p:txBody>
      </p:sp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25EE3B49-4A4F-A535-D584-4D0BEA61F42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7DE5B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236" y="3462098"/>
            <a:ext cx="1238931" cy="1238931"/>
          </a:xfrm>
          <a:prstGeom prst="rect">
            <a:avLst/>
          </a:prstGeom>
        </p:spPr>
      </p:pic>
      <p:pic>
        <p:nvPicPr>
          <p:cNvPr id="11" name="Imagem 10" descr="Ícone&#10;&#10;O conteúdo gerado por IA pode estar incorreto.">
            <a:extLst>
              <a:ext uri="{FF2B5EF4-FFF2-40B4-BE49-F238E27FC236}">
                <a16:creationId xmlns:a16="http://schemas.microsoft.com/office/drawing/2014/main" id="{CB3C3752-9E4E-2219-73ED-E31C906205A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DE5B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02" y="3425425"/>
            <a:ext cx="1238400" cy="123840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66071B1-DFDF-E8BA-752C-A6B73A21C4BC}"/>
              </a:ext>
            </a:extLst>
          </p:cNvPr>
          <p:cNvSpPr/>
          <p:nvPr/>
        </p:nvSpPr>
        <p:spPr>
          <a:xfrm>
            <a:off x="8455639" y="1622211"/>
            <a:ext cx="2049102" cy="1238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7AC3999-9CEA-8034-B119-98B451796748}"/>
              </a:ext>
            </a:extLst>
          </p:cNvPr>
          <p:cNvSpPr/>
          <p:nvPr/>
        </p:nvSpPr>
        <p:spPr>
          <a:xfrm>
            <a:off x="1376567" y="1622210"/>
            <a:ext cx="2049102" cy="12389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Performance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B3C32F8-4F35-0783-6754-692CBEF42330}"/>
              </a:ext>
            </a:extLst>
          </p:cNvPr>
          <p:cNvSpPr txBox="1"/>
          <p:nvPr/>
        </p:nvSpPr>
        <p:spPr>
          <a:xfrm>
            <a:off x="1096678" y="2445643"/>
            <a:ext cx="24854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pt-BR" dirty="0"/>
              <a:t>Velocidade e confiabilidade das operações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519779-109B-1F7E-849A-9E58849CA2F5}"/>
              </a:ext>
            </a:extLst>
          </p:cNvPr>
          <p:cNvSpPr txBox="1"/>
          <p:nvPr/>
        </p:nvSpPr>
        <p:spPr>
          <a:xfrm>
            <a:off x="8360339" y="2522096"/>
            <a:ext cx="231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pt-BR" dirty="0"/>
              <a:t>Facilidade e clareza na experiência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80E7DEA-D0C9-E9AC-CA34-9066D693A170}"/>
              </a:ext>
            </a:extLst>
          </p:cNvPr>
          <p:cNvSpPr txBox="1"/>
          <p:nvPr/>
        </p:nvSpPr>
        <p:spPr>
          <a:xfrm>
            <a:off x="8354111" y="5566224"/>
            <a:ext cx="231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pt-BR" dirty="0"/>
              <a:t>Usuários engajados completam o fluxo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4C5BFEC-8D99-FADD-D77C-621F2DB7D361}"/>
              </a:ext>
            </a:extLst>
          </p:cNvPr>
          <p:cNvSpPr txBox="1"/>
          <p:nvPr/>
        </p:nvSpPr>
        <p:spPr>
          <a:xfrm>
            <a:off x="1332907" y="5754476"/>
            <a:ext cx="231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Engajamento contínuo e recorrência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66792EE-D50C-6F4F-D0FA-9CA37CCB9636}"/>
              </a:ext>
            </a:extLst>
          </p:cNvPr>
          <p:cNvSpPr txBox="1"/>
          <p:nvPr/>
        </p:nvSpPr>
        <p:spPr>
          <a:xfrm>
            <a:off x="4769593" y="3536095"/>
            <a:ext cx="231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pt-BR" b="1" dirty="0">
                <a:highlight>
                  <a:srgbClr val="00863A"/>
                </a:highlight>
              </a:rPr>
              <a:t>Valor de negócio Gerado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60E6DC-25DC-5DD5-1ABB-11E722D80149}"/>
              </a:ext>
            </a:extLst>
          </p:cNvPr>
          <p:cNvSpPr txBox="1"/>
          <p:nvPr/>
        </p:nvSpPr>
        <p:spPr>
          <a:xfrm>
            <a:off x="4854855" y="4044625"/>
            <a:ext cx="2310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dirty="0"/>
              <a:t>Menor </a:t>
            </a:r>
            <a:r>
              <a:rPr lang="pt-BR" dirty="0" err="1"/>
              <a:t>churn</a:t>
            </a:r>
            <a:endParaRPr lang="pt-B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dirty="0"/>
              <a:t>Maior engajamento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dirty="0"/>
              <a:t>Maior conversão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726D83-DB1E-D212-4CDB-8D5E59532A7E}"/>
              </a:ext>
            </a:extLst>
          </p:cNvPr>
          <p:cNvSpPr/>
          <p:nvPr/>
        </p:nvSpPr>
        <p:spPr>
          <a:xfrm>
            <a:off x="-1" y="1064519"/>
            <a:ext cx="8354112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9B0E7309-E4C4-F4FB-EB7F-30FE2C1DA580}"/>
              </a:ext>
            </a:extLst>
          </p:cNvPr>
          <p:cNvSpPr txBox="1"/>
          <p:nvPr/>
        </p:nvSpPr>
        <p:spPr>
          <a:xfrm>
            <a:off x="239187" y="1095296"/>
            <a:ext cx="93030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1. Conversão - Ciclo de Conversão e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Retenção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 de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Usuários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8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992B-8FB0-58B6-3131-99CE327A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6B2F2CD8-CA25-AB77-A6C3-348713C585D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832F7D0-316D-A9E7-F5FD-968A6101F95D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D0736107-566B-21BF-3F97-953C3807F0EB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1.2 Conversão -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Análises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aixaDeTexto 13">
            <a:extLst>
              <a:ext uri="{FF2B5EF4-FFF2-40B4-BE49-F238E27FC236}">
                <a16:creationId xmlns:a16="http://schemas.microsoft.com/office/drawing/2014/main" id="{CE702BFD-C91E-523C-A2BA-D94D09E9A9BF}"/>
              </a:ext>
            </a:extLst>
          </p:cNvPr>
          <p:cNvSpPr txBox="1"/>
          <p:nvPr/>
        </p:nvSpPr>
        <p:spPr>
          <a:xfrm>
            <a:off x="568135" y="1991033"/>
            <a:ext cx="10448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variação de tempo entre depósito e primeira aposta chega até </a:t>
            </a:r>
            <a:r>
              <a:rPr lang="pt-BR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20-30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minutos para alguns usuários, mostrando oportunidade de acelerar a conversão inicial e reduzir abandono.</a:t>
            </a:r>
          </a:p>
        </p:txBody>
      </p:sp>
      <p:sp>
        <p:nvSpPr>
          <p:cNvPr id="11" name="CaixaDeTexto 13">
            <a:extLst>
              <a:ext uri="{FF2B5EF4-FFF2-40B4-BE49-F238E27FC236}">
                <a16:creationId xmlns:a16="http://schemas.microsoft.com/office/drawing/2014/main" id="{6CD2941A-B8AD-4DC8-3582-F4FB1B03770C}"/>
              </a:ext>
            </a:extLst>
          </p:cNvPr>
          <p:cNvSpPr txBox="1"/>
          <p:nvPr/>
        </p:nvSpPr>
        <p:spPr>
          <a:xfrm>
            <a:off x="1327479" y="2792618"/>
            <a:ext cx="953704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0/6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novos usuários completaram apostas ‘Live’</a:t>
            </a:r>
          </a:p>
        </p:txBody>
      </p:sp>
      <p:sp>
        <p:nvSpPr>
          <p:cNvPr id="13" name="CaixaDeTexto 13">
            <a:extLst>
              <a:ext uri="{FF2B5EF4-FFF2-40B4-BE49-F238E27FC236}">
                <a16:creationId xmlns:a16="http://schemas.microsoft.com/office/drawing/2014/main" id="{3DC7DF1A-454D-FD56-FCB4-15A9868A14A6}"/>
              </a:ext>
            </a:extLst>
          </p:cNvPr>
          <p:cNvSpPr txBox="1"/>
          <p:nvPr/>
        </p:nvSpPr>
        <p:spPr>
          <a:xfrm>
            <a:off x="992869" y="3566504"/>
            <a:ext cx="9537041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Apostas </a:t>
            </a:r>
            <a:r>
              <a:rPr lang="pt-BR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Pre-game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apresentam maior consistência em depósitos </a:t>
            </a:r>
            <a:r>
              <a:rPr lang="pt-BR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(3/3)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mostrando que usuários iniciantes preferem começar por modalidades menos complexas.</a:t>
            </a:r>
          </a:p>
        </p:txBody>
      </p:sp>
    </p:spTree>
    <p:extLst>
      <p:ext uri="{BB962C8B-B14F-4D97-AF65-F5344CB8AC3E}">
        <p14:creationId xmlns:p14="http://schemas.microsoft.com/office/powerpoint/2010/main" val="347800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5AD5-A19F-F565-2F62-852001AF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74B8733C-B8E9-2EB9-DAD8-659A397C8ADA}"/>
              </a:ext>
            </a:extLst>
          </p:cNvPr>
          <p:cNvSpPr/>
          <p:nvPr/>
        </p:nvSpPr>
        <p:spPr>
          <a:xfrm>
            <a:off x="129810" y="1801639"/>
            <a:ext cx="3780000" cy="2495121"/>
          </a:xfrm>
          <a:prstGeom prst="rect">
            <a:avLst/>
          </a:prstGeom>
          <a:solidFill>
            <a:srgbClr val="0C4A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B5181AE-BE81-DA47-5282-518B7A341A3C}"/>
              </a:ext>
            </a:extLst>
          </p:cNvPr>
          <p:cNvSpPr/>
          <p:nvPr/>
        </p:nvSpPr>
        <p:spPr>
          <a:xfrm>
            <a:off x="4205354" y="1801640"/>
            <a:ext cx="3780000" cy="2495120"/>
          </a:xfrm>
          <a:prstGeom prst="rect">
            <a:avLst/>
          </a:prstGeom>
          <a:solidFill>
            <a:srgbClr val="0284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AF5799D-02B5-96F1-89CB-BA9A5BC63CCC}"/>
              </a:ext>
            </a:extLst>
          </p:cNvPr>
          <p:cNvSpPr/>
          <p:nvPr/>
        </p:nvSpPr>
        <p:spPr>
          <a:xfrm>
            <a:off x="8280898" y="1801640"/>
            <a:ext cx="3781291" cy="2495120"/>
          </a:xfrm>
          <a:prstGeom prst="rect">
            <a:avLst/>
          </a:prstGeom>
          <a:solidFill>
            <a:srgbClr val="03A5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D74C61-BA8E-3F53-E102-BA6BE7931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07" y="1877716"/>
            <a:ext cx="3883606" cy="2341198"/>
          </a:xfrm>
        </p:spPr>
        <p:txBody>
          <a:bodyPr>
            <a:noAutofit/>
          </a:bodyPr>
          <a:lstStyle/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Análise</a:t>
            </a: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Nenhum novo usuário fez apostas Live no primeiro dia (0%), evidenciando dificuldade no </a:t>
            </a:r>
            <a:r>
              <a:rPr lang="pt-BR" sz="1200" b="1" dirty="0" err="1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onboarding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ou falta de incentivo inicial;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Alguns usuários que tentaram apostar Live tiveram falhas (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Failed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ou 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Pending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), indicando necessidade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otimização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do fluxo em tempo real;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 tempo médio entre o depósito e a primeira aposta varia significativamente (até 20-30 minutos em alguns casos), mostrando oportunidade de acelerar 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conversão inicial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AE7509B2-2B55-843F-5B38-B6560C70135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4D7433FE-D1D0-3156-D19F-2919257F82DA}"/>
              </a:ext>
            </a:extLst>
          </p:cNvPr>
          <p:cNvSpPr txBox="1">
            <a:spLocks/>
          </p:cNvSpPr>
          <p:nvPr/>
        </p:nvSpPr>
        <p:spPr>
          <a:xfrm>
            <a:off x="4257157" y="1877716"/>
            <a:ext cx="3676393" cy="23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Propostas de Ação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Criar campanhas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incentivo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para novos usuários realizarem apostas Live no primeiro dia;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Implementar recomendações personalizadas ou alertas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bônus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para aumentar valor médio apostado por usuário;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Monitorar depósitos convertidos em apostas por segmento de usuário para identificar padrões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engajamento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pt-BR" sz="1200" b="1" dirty="0">
              <a:solidFill>
                <a:schemeClr val="bg1"/>
              </a:solidFill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280942D5-9422-570A-AC02-B5A2CFCEA342}"/>
              </a:ext>
            </a:extLst>
          </p:cNvPr>
          <p:cNvSpPr txBox="1">
            <a:spLocks/>
          </p:cNvSpPr>
          <p:nvPr/>
        </p:nvSpPr>
        <p:spPr>
          <a:xfrm>
            <a:off x="8488110" y="1877716"/>
            <a:ext cx="3574080" cy="23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Impacto esperado</a:t>
            </a: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Crescimento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50%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na taxa de conversão de depósitos em apostas (+1,5x);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Crescimento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50%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no valor médio apostado por usuário (+1,5x), aumentando monetização efetiva;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Crescimento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50%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na conversão de novos usuários em apostas Live (+1,5x), melhorando engajamento inicial e retenção.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FD0A97-5F8C-F6DD-62D7-F94F52DB2D09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aixaDeTexto 10">
            <a:extLst>
              <a:ext uri="{FF2B5EF4-FFF2-40B4-BE49-F238E27FC236}">
                <a16:creationId xmlns:a16="http://schemas.microsoft.com/office/drawing/2014/main" id="{E19C8806-EA0B-1C66-1E04-930D1FDBAFC1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1.3 Conversão - Overview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E5847F-C146-F6CE-FC55-6622B8FB108F}"/>
              </a:ext>
            </a:extLst>
          </p:cNvPr>
          <p:cNvSpPr/>
          <p:nvPr/>
        </p:nvSpPr>
        <p:spPr>
          <a:xfrm>
            <a:off x="-1" y="4637736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B5B3C437-487A-1CCB-48EA-CE1EDD138E09}"/>
              </a:ext>
            </a:extLst>
          </p:cNvPr>
          <p:cNvSpPr txBox="1"/>
          <p:nvPr/>
        </p:nvSpPr>
        <p:spPr>
          <a:xfrm>
            <a:off x="239186" y="4668513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1.4 Conversão –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Entregáveis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/Dados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A16AE1D-B1B0-ADE9-2A51-21CB3F356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933948"/>
              </p:ext>
            </p:extLst>
          </p:nvPr>
        </p:nvGraphicFramePr>
        <p:xfrm>
          <a:off x="723899" y="5130177"/>
          <a:ext cx="10972800" cy="1525810"/>
        </p:xfrm>
        <a:graphic>
          <a:graphicData uri="http://schemas.openxmlformats.org/drawingml/2006/table">
            <a:tbl>
              <a:tblPr/>
              <a:tblGrid>
                <a:gridCol w="918366">
                  <a:extLst>
                    <a:ext uri="{9D8B030D-6E8A-4147-A177-3AD203B41FA5}">
                      <a16:colId xmlns:a16="http://schemas.microsoft.com/office/drawing/2014/main" val="694165549"/>
                    </a:ext>
                  </a:extLst>
                </a:gridCol>
                <a:gridCol w="980416">
                  <a:extLst>
                    <a:ext uri="{9D8B030D-6E8A-4147-A177-3AD203B41FA5}">
                      <a16:colId xmlns:a16="http://schemas.microsoft.com/office/drawing/2014/main" val="183497634"/>
                    </a:ext>
                  </a:extLst>
                </a:gridCol>
                <a:gridCol w="2345553">
                  <a:extLst>
                    <a:ext uri="{9D8B030D-6E8A-4147-A177-3AD203B41FA5}">
                      <a16:colId xmlns:a16="http://schemas.microsoft.com/office/drawing/2014/main" val="1482486403"/>
                    </a:ext>
                  </a:extLst>
                </a:gridCol>
                <a:gridCol w="4554593">
                  <a:extLst>
                    <a:ext uri="{9D8B030D-6E8A-4147-A177-3AD203B41FA5}">
                      <a16:colId xmlns:a16="http://schemas.microsoft.com/office/drawing/2014/main" val="2306670304"/>
                    </a:ext>
                  </a:extLst>
                </a:gridCol>
                <a:gridCol w="2173872">
                  <a:extLst>
                    <a:ext uri="{9D8B030D-6E8A-4147-A177-3AD203B41FA5}">
                      <a16:colId xmlns:a16="http://schemas.microsoft.com/office/drawing/2014/main" val="1739463634"/>
                    </a:ext>
                  </a:extLst>
                </a:gridCol>
              </a:tblGrid>
              <a:tr h="1294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Deadline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Delivery 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Delivery Task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User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402458"/>
                  </a:ext>
                </a:extLst>
              </a:tr>
              <a:tr h="234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Semanal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Relatório de conversão de depósitos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Análise da taxa de conversão de depósitos em apostas e identificação de gaps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Squads envolvidas (BU iGaming)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014646"/>
                  </a:ext>
                </a:extLst>
              </a:tr>
              <a:tr h="234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W1-W4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Mensal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Valor médio apostado por usuário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Consolidação e monitoramento do valor médio de apostas (Completed)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Squads envolvidas (BU iGaming)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48542"/>
                  </a:ext>
                </a:extLst>
              </a:tr>
              <a:tr h="234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W1-W4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Mensal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Conversão de novos usuários Live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Análise de onboarding e engajamento inicial em apostas Live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Squads envolvidas (BU iGaming)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759263"/>
                  </a:ext>
                </a:extLst>
              </a:tr>
              <a:tr h="234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W2-W4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Dashboard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Criação de painel de monitoramento dos KPIs de conversão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Stakeholders e Diretoria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646073"/>
                  </a:ext>
                </a:extLst>
              </a:tr>
              <a:tr h="234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Comparativo antes/depois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Teste A/B das melhorias aplicadas em conversão de depósitos e apostas Live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Produto, Marketing, Tecnologia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3826"/>
                  </a:ext>
                </a:extLst>
              </a:tr>
              <a:tr h="1294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Apresentação e KPIs validados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Report executivo com metas atingidas e próximas ações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Stakeholders e Diretoria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28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40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15DFC-1197-0A50-30D2-702F9400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F2800306-C893-27DC-9B5A-F93E80648DDA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2648F9-00FB-C5C8-8141-A63280CA170C}"/>
              </a:ext>
            </a:extLst>
          </p:cNvPr>
          <p:cNvSpPr/>
          <p:nvPr/>
        </p:nvSpPr>
        <p:spPr>
          <a:xfrm>
            <a:off x="1150374" y="2212258"/>
            <a:ext cx="2788377" cy="4277032"/>
          </a:xfrm>
          <a:prstGeom prst="rect">
            <a:avLst/>
          </a:prstGeom>
          <a:solidFill>
            <a:srgbClr val="0C4A23"/>
          </a:solidFill>
          <a:ln>
            <a:solidFill>
              <a:srgbClr val="0C4A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2DC0EB9-F05E-795C-D1D8-30B57DF46473}"/>
              </a:ext>
            </a:extLst>
          </p:cNvPr>
          <p:cNvSpPr/>
          <p:nvPr/>
        </p:nvSpPr>
        <p:spPr>
          <a:xfrm>
            <a:off x="4652399" y="2212258"/>
            <a:ext cx="2788377" cy="4277032"/>
          </a:xfrm>
          <a:prstGeom prst="rect">
            <a:avLst/>
          </a:prstGeom>
          <a:solidFill>
            <a:srgbClr val="02843A"/>
          </a:solidFill>
          <a:ln>
            <a:solidFill>
              <a:srgbClr val="0C4A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E83A888-A4C9-2113-2731-03F58BB2FEFC}"/>
              </a:ext>
            </a:extLst>
          </p:cNvPr>
          <p:cNvSpPr/>
          <p:nvPr/>
        </p:nvSpPr>
        <p:spPr>
          <a:xfrm>
            <a:off x="8160948" y="2212258"/>
            <a:ext cx="2788377" cy="4277032"/>
          </a:xfrm>
          <a:prstGeom prst="rect">
            <a:avLst/>
          </a:prstGeom>
          <a:solidFill>
            <a:srgbClr val="03A53C"/>
          </a:solidFill>
          <a:ln>
            <a:solidFill>
              <a:srgbClr val="03A53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518A1B7D-984A-0F80-7A76-B2588AD29FF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5" name="Subtítulo 4">
            <a:extLst>
              <a:ext uri="{FF2B5EF4-FFF2-40B4-BE49-F238E27FC236}">
                <a16:creationId xmlns:a16="http://schemas.microsoft.com/office/drawing/2014/main" id="{FA2C02D4-E958-DA70-B8EB-F9A900A8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114" y="1600870"/>
            <a:ext cx="9144000" cy="572727"/>
          </a:xfrm>
        </p:spPr>
        <p:txBody>
          <a:bodyPr/>
          <a:lstStyle/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KPIs Propostos para monitoramentos eficientes para o pilar de conversões: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ubtítulo 4">
            <a:extLst>
              <a:ext uri="{FF2B5EF4-FFF2-40B4-BE49-F238E27FC236}">
                <a16:creationId xmlns:a16="http://schemas.microsoft.com/office/drawing/2014/main" id="{25907567-6F2C-6461-D798-4AC1FFF5801C}"/>
              </a:ext>
            </a:extLst>
          </p:cNvPr>
          <p:cNvSpPr txBox="1">
            <a:spLocks/>
          </p:cNvSpPr>
          <p:nvPr/>
        </p:nvSpPr>
        <p:spPr>
          <a:xfrm>
            <a:off x="1242675" y="3929633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Subtítulo 4">
            <a:extLst>
              <a:ext uri="{FF2B5EF4-FFF2-40B4-BE49-F238E27FC236}">
                <a16:creationId xmlns:a16="http://schemas.microsoft.com/office/drawing/2014/main" id="{C1446983-B0F8-87BF-4356-68EAAB613C2F}"/>
              </a:ext>
            </a:extLst>
          </p:cNvPr>
          <p:cNvSpPr txBox="1">
            <a:spLocks/>
          </p:cNvSpPr>
          <p:nvPr/>
        </p:nvSpPr>
        <p:spPr>
          <a:xfrm>
            <a:off x="4652399" y="3910779"/>
            <a:ext cx="2760020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4FCF92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Subtítulo 4">
            <a:extLst>
              <a:ext uri="{FF2B5EF4-FFF2-40B4-BE49-F238E27FC236}">
                <a16:creationId xmlns:a16="http://schemas.microsoft.com/office/drawing/2014/main" id="{7ED058A5-53D8-5917-DF5F-7D1A5B09411D}"/>
              </a:ext>
            </a:extLst>
          </p:cNvPr>
          <p:cNvSpPr txBox="1">
            <a:spLocks/>
          </p:cNvSpPr>
          <p:nvPr/>
        </p:nvSpPr>
        <p:spPr>
          <a:xfrm>
            <a:off x="8212414" y="3905509"/>
            <a:ext cx="2672392" cy="1430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0" name="Imagem 19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2D4D41FD-9820-56B7-6C96-7CD0EC4447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548372" y="2452441"/>
            <a:ext cx="996429" cy="996429"/>
          </a:xfrm>
          <a:prstGeom prst="rect">
            <a:avLst/>
          </a:prstGeom>
        </p:spPr>
      </p:pic>
      <p:pic>
        <p:nvPicPr>
          <p:cNvPr id="21" name="Imagem 20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E4F8BC3D-6D5A-D8A6-DCA0-B1F37778251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21506" y="2452440"/>
            <a:ext cx="996429" cy="996429"/>
          </a:xfrm>
          <a:prstGeom prst="rect">
            <a:avLst/>
          </a:prstGeom>
        </p:spPr>
      </p:pic>
      <p:pic>
        <p:nvPicPr>
          <p:cNvPr id="22" name="Imagem 21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356D8A76-AAE0-E423-B38D-6ABE2B3B7C0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050397" y="2452441"/>
            <a:ext cx="996429" cy="996429"/>
          </a:xfrm>
          <a:prstGeom prst="rect">
            <a:avLst/>
          </a:prstGeom>
        </p:spPr>
      </p:pic>
      <p:sp>
        <p:nvSpPr>
          <p:cNvPr id="31" name="Elipse 30">
            <a:extLst>
              <a:ext uri="{FF2B5EF4-FFF2-40B4-BE49-F238E27FC236}">
                <a16:creationId xmlns:a16="http://schemas.microsoft.com/office/drawing/2014/main" id="{7554AA6A-B942-0768-F65D-A9B044C8E6AA}"/>
              </a:ext>
            </a:extLst>
          </p:cNvPr>
          <p:cNvSpPr/>
          <p:nvPr/>
        </p:nvSpPr>
        <p:spPr>
          <a:xfrm>
            <a:off x="2131889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9322BC5-1865-A1FF-26A4-C83A54F81EED}"/>
              </a:ext>
            </a:extLst>
          </p:cNvPr>
          <p:cNvSpPr/>
          <p:nvPr/>
        </p:nvSpPr>
        <p:spPr>
          <a:xfrm>
            <a:off x="9242727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Subtítulo 4">
            <a:extLst>
              <a:ext uri="{FF2B5EF4-FFF2-40B4-BE49-F238E27FC236}">
                <a16:creationId xmlns:a16="http://schemas.microsoft.com/office/drawing/2014/main" id="{928AFE14-9827-A643-424A-568FD47B978C}"/>
              </a:ext>
            </a:extLst>
          </p:cNvPr>
          <p:cNvSpPr txBox="1">
            <a:spLocks/>
          </p:cNvSpPr>
          <p:nvPr/>
        </p:nvSpPr>
        <p:spPr>
          <a:xfrm>
            <a:off x="9132798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BA3C817-5C9E-4092-F898-1E91AC454061}"/>
              </a:ext>
            </a:extLst>
          </p:cNvPr>
          <p:cNvSpPr/>
          <p:nvPr/>
        </p:nvSpPr>
        <p:spPr>
          <a:xfrm>
            <a:off x="5687308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Subtítulo 4">
            <a:extLst>
              <a:ext uri="{FF2B5EF4-FFF2-40B4-BE49-F238E27FC236}">
                <a16:creationId xmlns:a16="http://schemas.microsoft.com/office/drawing/2014/main" id="{B05D0F24-6539-D91E-239A-A4B2F1B18F08}"/>
              </a:ext>
            </a:extLst>
          </p:cNvPr>
          <p:cNvSpPr txBox="1">
            <a:spLocks/>
          </p:cNvSpPr>
          <p:nvPr/>
        </p:nvSpPr>
        <p:spPr>
          <a:xfrm>
            <a:off x="5568352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</a:p>
        </p:txBody>
      </p:sp>
      <p:sp>
        <p:nvSpPr>
          <p:cNvPr id="36" name="Subtítulo 4">
            <a:extLst>
              <a:ext uri="{FF2B5EF4-FFF2-40B4-BE49-F238E27FC236}">
                <a16:creationId xmlns:a16="http://schemas.microsoft.com/office/drawing/2014/main" id="{931A9AD6-7B9F-A661-BE00-1FB34ED39878}"/>
              </a:ext>
            </a:extLst>
          </p:cNvPr>
          <p:cNvSpPr txBox="1">
            <a:spLocks/>
          </p:cNvSpPr>
          <p:nvPr/>
        </p:nvSpPr>
        <p:spPr>
          <a:xfrm>
            <a:off x="2003907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8F5EA0D1-18B3-5D47-4787-F25354A3019D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1.5 Conversão – KPIs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Subtítulo 4">
            <a:extLst>
              <a:ext uri="{FF2B5EF4-FFF2-40B4-BE49-F238E27FC236}">
                <a16:creationId xmlns:a16="http://schemas.microsoft.com/office/drawing/2014/main" id="{3F84073B-C275-DD09-5948-BE9B3B1201D2}"/>
              </a:ext>
            </a:extLst>
          </p:cNvPr>
          <p:cNvSpPr txBox="1">
            <a:spLocks/>
          </p:cNvSpPr>
          <p:nvPr/>
        </p:nvSpPr>
        <p:spPr>
          <a:xfrm>
            <a:off x="1174672" y="3689052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Taxa de conversão de depósitos em apostas</a:t>
            </a:r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Subtítulo 4">
            <a:extLst>
              <a:ext uri="{FF2B5EF4-FFF2-40B4-BE49-F238E27FC236}">
                <a16:creationId xmlns:a16="http://schemas.microsoft.com/office/drawing/2014/main" id="{83BD7E38-91CB-15EE-C517-BE72FA058473}"/>
              </a:ext>
            </a:extLst>
          </p:cNvPr>
          <p:cNvSpPr txBox="1">
            <a:spLocks/>
          </p:cNvSpPr>
          <p:nvPr/>
        </p:nvSpPr>
        <p:spPr>
          <a:xfrm>
            <a:off x="4744699" y="3689052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Valor médio apostado por usuário</a:t>
            </a:r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ubtítulo 4">
            <a:extLst>
              <a:ext uri="{FF2B5EF4-FFF2-40B4-BE49-F238E27FC236}">
                <a16:creationId xmlns:a16="http://schemas.microsoft.com/office/drawing/2014/main" id="{BB01EB61-621B-5735-259D-3BFF434FA81D}"/>
              </a:ext>
            </a:extLst>
          </p:cNvPr>
          <p:cNvSpPr txBox="1">
            <a:spLocks/>
          </p:cNvSpPr>
          <p:nvPr/>
        </p:nvSpPr>
        <p:spPr>
          <a:xfrm>
            <a:off x="4737441" y="4345767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(todas as categorias em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bet_type</a:t>
            </a:r>
            <a:r>
              <a:rPr lang="pt-BR" sz="1200" dirty="0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sp>
        <p:nvSpPr>
          <p:cNvPr id="15" name="Subtítulo 4">
            <a:extLst>
              <a:ext uri="{FF2B5EF4-FFF2-40B4-BE49-F238E27FC236}">
                <a16:creationId xmlns:a16="http://schemas.microsoft.com/office/drawing/2014/main" id="{D2762AE0-9FF5-2A0A-ED73-827186E88C31}"/>
              </a:ext>
            </a:extLst>
          </p:cNvPr>
          <p:cNvSpPr txBox="1">
            <a:spLocks/>
          </p:cNvSpPr>
          <p:nvPr/>
        </p:nvSpPr>
        <p:spPr>
          <a:xfrm>
            <a:off x="8246723" y="3689052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Conversão de novos usuários </a:t>
            </a:r>
            <a:r>
              <a:rPr lang="pt-BR" sz="20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(Live)</a:t>
            </a:r>
            <a:endParaRPr lang="pt-BR" b="1" dirty="0">
              <a:highlight>
                <a:srgbClr val="7DE5B0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7" name="Imagem 16" descr="Forma&#10;&#10;O conteúdo gerado por IA pode estar incorreto.">
            <a:extLst>
              <a:ext uri="{FF2B5EF4-FFF2-40B4-BE49-F238E27FC236}">
                <a16:creationId xmlns:a16="http://schemas.microsoft.com/office/drawing/2014/main" id="{564D5358-704E-CDB0-E001-3C2E7618F5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20" y="2590130"/>
            <a:ext cx="536400" cy="536400"/>
          </a:xfrm>
          <a:prstGeom prst="rect">
            <a:avLst/>
          </a:prstGeom>
        </p:spPr>
      </p:pic>
      <p:pic>
        <p:nvPicPr>
          <p:cNvPr id="19" name="Imagem 18" descr="Forma&#10;&#10;O conteúdo gerado por IA pode estar incorreto.">
            <a:extLst>
              <a:ext uri="{FF2B5EF4-FFF2-40B4-BE49-F238E27FC236}">
                <a16:creationId xmlns:a16="http://schemas.microsoft.com/office/drawing/2014/main" id="{6FB45BB2-7783-7D98-4F2B-DEF62EA079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385" y="2602122"/>
            <a:ext cx="536400" cy="536400"/>
          </a:xfrm>
          <a:prstGeom prst="rect">
            <a:avLst/>
          </a:prstGeom>
        </p:spPr>
      </p:pic>
      <p:pic>
        <p:nvPicPr>
          <p:cNvPr id="25" name="Imagem 24" descr="Forma&#10;&#10;O conteúdo gerado por IA pode estar incorreto.">
            <a:extLst>
              <a:ext uri="{FF2B5EF4-FFF2-40B4-BE49-F238E27FC236}">
                <a16:creationId xmlns:a16="http://schemas.microsoft.com/office/drawing/2014/main" id="{57814E25-2873-C56A-8D91-F7ED36A7EA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409" y="2590130"/>
            <a:ext cx="536400" cy="5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2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0EAB-F268-AE14-1F98-0518A8426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C4FDA748-D2EE-184B-8DD1-3EBDACFF8D6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CaixaDeTexto 13">
            <a:extLst>
              <a:ext uri="{FF2B5EF4-FFF2-40B4-BE49-F238E27FC236}">
                <a16:creationId xmlns:a16="http://schemas.microsoft.com/office/drawing/2014/main" id="{E19579FE-7E21-A935-B60D-A69C799FAF33}"/>
              </a:ext>
            </a:extLst>
          </p:cNvPr>
          <p:cNvSpPr txBox="1"/>
          <p:nvPr/>
        </p:nvSpPr>
        <p:spPr>
          <a:xfrm>
            <a:off x="568135" y="1991033"/>
            <a:ext cx="9092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Output do cálculo das metas de atingimento para KPIs propostos: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9D3F8E3-284B-992A-176D-4BB580CF141F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D0560BBF-D0CB-56B7-1A63-29A2ED124CD9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1.6 Conversão – Atingimentos Propostos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CaixaDeTexto 13">
            <a:extLst>
              <a:ext uri="{FF2B5EF4-FFF2-40B4-BE49-F238E27FC236}">
                <a16:creationId xmlns:a16="http://schemas.microsoft.com/office/drawing/2014/main" id="{6D4B79F7-B4D9-E8DA-687D-890A939F945A}"/>
              </a:ext>
            </a:extLst>
          </p:cNvPr>
          <p:cNvSpPr txBox="1"/>
          <p:nvPr/>
        </p:nvSpPr>
        <p:spPr>
          <a:xfrm>
            <a:off x="1207021" y="5331078"/>
            <a:ext cx="9092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Valor médio apostado por usuário: R$4.000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incentivando apostas maiores e aumentando a monetização efetiva.</a:t>
            </a:r>
          </a:p>
        </p:txBody>
      </p:sp>
      <p:sp>
        <p:nvSpPr>
          <p:cNvPr id="18" name="CaixaDeTexto 13">
            <a:extLst>
              <a:ext uri="{FF2B5EF4-FFF2-40B4-BE49-F238E27FC236}">
                <a16:creationId xmlns:a16="http://schemas.microsoft.com/office/drawing/2014/main" id="{01EF546B-5010-8810-57BC-3AFB75DBF162}"/>
              </a:ext>
            </a:extLst>
          </p:cNvPr>
          <p:cNvSpPr txBox="1"/>
          <p:nvPr/>
        </p:nvSpPr>
        <p:spPr>
          <a:xfrm>
            <a:off x="1391534" y="5762704"/>
            <a:ext cx="9408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Conversão de novos usuários em apostas Live: 0%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evidenciando oportunidade de crescimento no engajamento de usuários recém-registrados.</a:t>
            </a:r>
          </a:p>
        </p:txBody>
      </p:sp>
      <p:sp>
        <p:nvSpPr>
          <p:cNvPr id="19" name="CaixaDeTexto 13">
            <a:extLst>
              <a:ext uri="{FF2B5EF4-FFF2-40B4-BE49-F238E27FC236}">
                <a16:creationId xmlns:a16="http://schemas.microsoft.com/office/drawing/2014/main" id="{739EE5DB-F266-CB68-B7F2-6106B8E4E647}"/>
              </a:ext>
            </a:extLst>
          </p:cNvPr>
          <p:cNvSpPr txBox="1"/>
          <p:nvPr/>
        </p:nvSpPr>
        <p:spPr>
          <a:xfrm>
            <a:off x="866887" y="4714787"/>
            <a:ext cx="103823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Taxa de conversão de depósitos em apostas: 100%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para aumentar engajamento financeiro e garantir que todos os usuários que depositam façam pelo menos uma aposta.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9ED8E6-6918-D433-8D1D-21DEA364E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06" y="3086529"/>
            <a:ext cx="10384585" cy="684941"/>
          </a:xfrm>
          <a:prstGeom prst="rect">
            <a:avLst/>
          </a:prstGeom>
        </p:spPr>
      </p:pic>
      <p:sp>
        <p:nvSpPr>
          <p:cNvPr id="5" name="CaixaDeTexto 13">
            <a:extLst>
              <a:ext uri="{FF2B5EF4-FFF2-40B4-BE49-F238E27FC236}">
                <a16:creationId xmlns:a16="http://schemas.microsoft.com/office/drawing/2014/main" id="{BCC4E850-4A45-99D6-D42E-D881D5856D81}"/>
              </a:ext>
            </a:extLst>
          </p:cNvPr>
          <p:cNvSpPr txBox="1"/>
          <p:nvPr/>
        </p:nvSpPr>
        <p:spPr>
          <a:xfrm>
            <a:off x="864606" y="3802986"/>
            <a:ext cx="9606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Cálculo realizado considerando apenas apostas status “</a:t>
            </a:r>
            <a:r>
              <a:rPr lang="pt-BR" sz="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Completed</a:t>
            </a:r>
            <a:r>
              <a:rPr lang="pt-BR" sz="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256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92B3-E105-6673-3E83-ACCA8882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2262780D-509D-3DCE-AABE-26F844C49D5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CaixaDeTexto 13">
            <a:extLst>
              <a:ext uri="{FF2B5EF4-FFF2-40B4-BE49-F238E27FC236}">
                <a16:creationId xmlns:a16="http://schemas.microsoft.com/office/drawing/2014/main" id="{30919A01-4EE2-4CEC-931B-437509F52F90}"/>
              </a:ext>
            </a:extLst>
          </p:cNvPr>
          <p:cNvSpPr txBox="1"/>
          <p:nvPr/>
        </p:nvSpPr>
        <p:spPr>
          <a:xfrm>
            <a:off x="568135" y="1991033"/>
            <a:ext cx="9092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Apostas </a:t>
            </a:r>
            <a:r>
              <a:rPr lang="pt-BR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'Live</a:t>
            </a:r>
            <a:r>
              <a:rPr lang="pt-BR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'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apresentam tempo médio 10x maior (6–10s) do que </a:t>
            </a:r>
            <a:r>
              <a:rPr lang="pt-BR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'</a:t>
            </a:r>
            <a:r>
              <a:rPr lang="pt-BR" b="1" dirty="0" err="1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Pre-game</a:t>
            </a:r>
            <a:r>
              <a:rPr lang="pt-BR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'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(~1s).</a:t>
            </a:r>
          </a:p>
        </p:txBody>
      </p:sp>
      <p:sp>
        <p:nvSpPr>
          <p:cNvPr id="6" name="CaixaDeTexto 13">
            <a:extLst>
              <a:ext uri="{FF2B5EF4-FFF2-40B4-BE49-F238E27FC236}">
                <a16:creationId xmlns:a16="http://schemas.microsoft.com/office/drawing/2014/main" id="{257352D2-6D4A-B667-A685-949FCC3BE0FF}"/>
              </a:ext>
            </a:extLst>
          </p:cNvPr>
          <p:cNvSpPr txBox="1"/>
          <p:nvPr/>
        </p:nvSpPr>
        <p:spPr>
          <a:xfrm>
            <a:off x="1327479" y="2792618"/>
            <a:ext cx="953704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lentidão aumenta rejeição e </a:t>
            </a:r>
            <a:r>
              <a:rPr lang="pt-BR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abandono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apostas.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FA274D-51A6-0719-ED11-CA088DF2557D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CF77A7B4-D446-3540-2BB2-5DDB3B3105CF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2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Transações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-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Análises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CaixaDeTexto 13">
            <a:extLst>
              <a:ext uri="{FF2B5EF4-FFF2-40B4-BE49-F238E27FC236}">
                <a16:creationId xmlns:a16="http://schemas.microsoft.com/office/drawing/2014/main" id="{C5504D88-605F-21FF-CA75-729B1FC6B959}"/>
              </a:ext>
            </a:extLst>
          </p:cNvPr>
          <p:cNvSpPr txBox="1"/>
          <p:nvPr/>
        </p:nvSpPr>
        <p:spPr>
          <a:xfrm>
            <a:off x="992869" y="3566504"/>
            <a:ext cx="9537041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Usuários que demoram mais para depositar e enfrentam maior tempo de transação, são os que mais </a:t>
            </a:r>
            <a:r>
              <a:rPr lang="pt-BR" b="1" dirty="0"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reclamam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usabilidade.</a:t>
            </a:r>
          </a:p>
        </p:txBody>
      </p:sp>
      <p:sp>
        <p:nvSpPr>
          <p:cNvPr id="3" name="CaixaDeTexto 13">
            <a:extLst>
              <a:ext uri="{FF2B5EF4-FFF2-40B4-BE49-F238E27FC236}">
                <a16:creationId xmlns:a16="http://schemas.microsoft.com/office/drawing/2014/main" id="{42400177-6E83-2B3D-DB20-1836D0A3BFCA}"/>
              </a:ext>
            </a:extLst>
          </p:cNvPr>
          <p:cNvSpPr txBox="1"/>
          <p:nvPr/>
        </p:nvSpPr>
        <p:spPr>
          <a:xfrm>
            <a:off x="2069814" y="4557092"/>
            <a:ext cx="953704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Existe uma correlação direta entre lentidão operacional e </a:t>
            </a:r>
            <a:r>
              <a:rPr lang="pt-BR" b="1" dirty="0"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frustração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uso.</a:t>
            </a:r>
          </a:p>
        </p:txBody>
      </p:sp>
      <p:sp>
        <p:nvSpPr>
          <p:cNvPr id="4" name="CaixaDeTexto 13">
            <a:extLst>
              <a:ext uri="{FF2B5EF4-FFF2-40B4-BE49-F238E27FC236}">
                <a16:creationId xmlns:a16="http://schemas.microsoft.com/office/drawing/2014/main" id="{2135568C-4604-A613-A2A0-24EF0BEF0533}"/>
              </a:ext>
            </a:extLst>
          </p:cNvPr>
          <p:cNvSpPr txBox="1"/>
          <p:nvPr/>
        </p:nvSpPr>
        <p:spPr>
          <a:xfrm>
            <a:off x="1327479" y="5171773"/>
            <a:ext cx="968956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Usuários que tiveram um tempo maior de transação (30-100s), não realizaram depósitos, tendo uma correlação com feedbacks sobre dificuldades em conseguir </a:t>
            </a:r>
            <a:r>
              <a:rPr lang="pt-BR" b="1" dirty="0"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encontrar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as apostas.</a:t>
            </a:r>
          </a:p>
        </p:txBody>
      </p:sp>
    </p:spTree>
    <p:extLst>
      <p:ext uri="{BB962C8B-B14F-4D97-AF65-F5344CB8AC3E}">
        <p14:creationId xmlns:p14="http://schemas.microsoft.com/office/powerpoint/2010/main" val="163094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272D-C7C8-A8D8-3668-3E78C8C6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17F17E25-55C5-211A-DA61-2F55A54B682D}"/>
              </a:ext>
            </a:extLst>
          </p:cNvPr>
          <p:cNvSpPr/>
          <p:nvPr/>
        </p:nvSpPr>
        <p:spPr>
          <a:xfrm>
            <a:off x="129810" y="1801639"/>
            <a:ext cx="3780000" cy="2495121"/>
          </a:xfrm>
          <a:prstGeom prst="rect">
            <a:avLst/>
          </a:prstGeom>
          <a:solidFill>
            <a:srgbClr val="0C4A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A55B407-561F-3C4F-55DD-011995964BD1}"/>
              </a:ext>
            </a:extLst>
          </p:cNvPr>
          <p:cNvSpPr/>
          <p:nvPr/>
        </p:nvSpPr>
        <p:spPr>
          <a:xfrm>
            <a:off x="4205354" y="1801640"/>
            <a:ext cx="3780000" cy="2495120"/>
          </a:xfrm>
          <a:prstGeom prst="rect">
            <a:avLst/>
          </a:prstGeom>
          <a:solidFill>
            <a:srgbClr val="0284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E452CA0-4EC0-3F57-076A-42E39D01FDAB}"/>
              </a:ext>
            </a:extLst>
          </p:cNvPr>
          <p:cNvSpPr/>
          <p:nvPr/>
        </p:nvSpPr>
        <p:spPr>
          <a:xfrm>
            <a:off x="8280898" y="1801640"/>
            <a:ext cx="3781291" cy="2495120"/>
          </a:xfrm>
          <a:prstGeom prst="rect">
            <a:avLst/>
          </a:prstGeom>
          <a:solidFill>
            <a:srgbClr val="03A5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B391EC5C-81AB-12DD-A130-E8F395BDAE6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C6A88F40-B891-87F0-68CE-1858AE0B97C9}"/>
              </a:ext>
            </a:extLst>
          </p:cNvPr>
          <p:cNvSpPr txBox="1">
            <a:spLocks/>
          </p:cNvSpPr>
          <p:nvPr/>
        </p:nvSpPr>
        <p:spPr>
          <a:xfrm>
            <a:off x="8445500" y="1877716"/>
            <a:ext cx="3616689" cy="23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Impacto esperado</a:t>
            </a: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Redução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76%</a:t>
            </a:r>
            <a:r>
              <a:rPr lang="pt-BR" sz="1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tempo médio de transação;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Redução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50%</a:t>
            </a:r>
            <a:r>
              <a:rPr lang="pt-BR" sz="1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nas reclamações, impactando principalmente queixas sobre usabilidade;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Aumento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50%</a:t>
            </a:r>
            <a:r>
              <a:rPr lang="pt-BR" sz="1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na conversão de apostas completadas.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CC5D366-12B3-817F-C508-0C5C11690740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aixaDeTexto 10">
            <a:extLst>
              <a:ext uri="{FF2B5EF4-FFF2-40B4-BE49-F238E27FC236}">
                <a16:creationId xmlns:a16="http://schemas.microsoft.com/office/drawing/2014/main" id="{C368977D-AC3A-962F-C2D9-B9F1C145DB4D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2.1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Transações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- Overview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455747F-577B-17F1-F40E-C927CDEF7A0D}"/>
              </a:ext>
            </a:extLst>
          </p:cNvPr>
          <p:cNvSpPr/>
          <p:nvPr/>
        </p:nvSpPr>
        <p:spPr>
          <a:xfrm>
            <a:off x="-1" y="4637736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CaixaDeTexto 10">
            <a:extLst>
              <a:ext uri="{FF2B5EF4-FFF2-40B4-BE49-F238E27FC236}">
                <a16:creationId xmlns:a16="http://schemas.microsoft.com/office/drawing/2014/main" id="{6393063E-F67D-0ED6-4548-D62341C6B6E1}"/>
              </a:ext>
            </a:extLst>
          </p:cNvPr>
          <p:cNvSpPr txBox="1"/>
          <p:nvPr/>
        </p:nvSpPr>
        <p:spPr>
          <a:xfrm>
            <a:off x="239186" y="4668513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2.2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Transações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–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Entregáveis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/Dados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454EC289-6B77-902C-167A-BBF8F3B16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58809"/>
              </p:ext>
            </p:extLst>
          </p:nvPr>
        </p:nvGraphicFramePr>
        <p:xfrm>
          <a:off x="1523999" y="5409599"/>
          <a:ext cx="9029700" cy="1143000"/>
        </p:xfrm>
        <a:graphic>
          <a:graphicData uri="http://schemas.openxmlformats.org/drawingml/2006/table">
            <a:tbl>
              <a:tblPr/>
              <a:tblGrid>
                <a:gridCol w="609386">
                  <a:extLst>
                    <a:ext uri="{9D8B030D-6E8A-4147-A177-3AD203B41FA5}">
                      <a16:colId xmlns:a16="http://schemas.microsoft.com/office/drawing/2014/main" val="2676792816"/>
                    </a:ext>
                  </a:extLst>
                </a:gridCol>
                <a:gridCol w="1193380">
                  <a:extLst>
                    <a:ext uri="{9D8B030D-6E8A-4147-A177-3AD203B41FA5}">
                      <a16:colId xmlns:a16="http://schemas.microsoft.com/office/drawing/2014/main" val="4075173562"/>
                    </a:ext>
                  </a:extLst>
                </a:gridCol>
                <a:gridCol w="2018590">
                  <a:extLst>
                    <a:ext uri="{9D8B030D-6E8A-4147-A177-3AD203B41FA5}">
                      <a16:colId xmlns:a16="http://schemas.microsoft.com/office/drawing/2014/main" val="1772806474"/>
                    </a:ext>
                  </a:extLst>
                </a:gridCol>
                <a:gridCol w="3199275">
                  <a:extLst>
                    <a:ext uri="{9D8B030D-6E8A-4147-A177-3AD203B41FA5}">
                      <a16:colId xmlns:a16="http://schemas.microsoft.com/office/drawing/2014/main" val="4273439484"/>
                    </a:ext>
                  </a:extLst>
                </a:gridCol>
                <a:gridCol w="2009069">
                  <a:extLst>
                    <a:ext uri="{9D8B030D-6E8A-4147-A177-3AD203B41FA5}">
                      <a16:colId xmlns:a16="http://schemas.microsoft.com/office/drawing/2014/main" val="185700346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Deadline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Delivery 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Delivery Task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User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859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Semanal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Relatório técnico de latência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Análise de logs e gargalos de transação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Squads</a:t>
                      </a: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envolvidas (BU </a:t>
                      </a:r>
                      <a:r>
                        <a:rPr lang="pt-BR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iGaming</a:t>
                      </a: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6302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W1-W4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Mensal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Redução no </a:t>
                      </a:r>
                      <a:r>
                        <a:rPr lang="pt-BR" sz="10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Unicode MS"/>
                        </a:rPr>
                        <a:t>transaction_time_sec</a:t>
                      </a:r>
                      <a:endParaRPr lang="pt-BR" sz="11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Implementação de melhorias na API de apostas Live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Squads</a:t>
                      </a: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envolvidas (BU </a:t>
                      </a:r>
                      <a:r>
                        <a:rPr lang="pt-BR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iGaming</a:t>
                      </a: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8498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W1-W4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Mensal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Dashboard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Criação de dashboard de monitoramento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Stakeholders e Diretoria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6254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Comparativo antes/depois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Teste A/B e validação de performance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Produto, Marketing, Tecnologia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3807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Apresentação e KPIs validados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Report executivo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Stakeholders e Diretoria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103226"/>
                  </a:ext>
                </a:extLst>
              </a:tr>
            </a:tbl>
          </a:graphicData>
        </a:graphic>
      </p:graphicFrame>
      <p:sp>
        <p:nvSpPr>
          <p:cNvPr id="10" name="Subtítulo 2">
            <a:extLst>
              <a:ext uri="{FF2B5EF4-FFF2-40B4-BE49-F238E27FC236}">
                <a16:creationId xmlns:a16="http://schemas.microsoft.com/office/drawing/2014/main" id="{2A0B2A4E-ED50-D81B-A31A-9FA92023A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10" y="1877716"/>
            <a:ext cx="3883605" cy="2341198"/>
          </a:xfrm>
        </p:spPr>
        <p:txBody>
          <a:bodyPr>
            <a:noAutofit/>
          </a:bodyPr>
          <a:lstStyle/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Análise</a:t>
            </a: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As apostas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Live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têm média de ~6 segundos vs. ~1 segundo nas apostas 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Pre-game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Há um indicativo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gargalo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técnico no fluxo em tempo real;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67% dos usuários que completaram as transações, reclamaram sobre 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demora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no processamento;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Usuários que não completaram a transação, não conseguiram localizar as apostas.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D6ABB94F-30EA-A0FA-9BFF-5F6F9E5A6F89}"/>
              </a:ext>
            </a:extLst>
          </p:cNvPr>
          <p:cNvSpPr txBox="1">
            <a:spLocks/>
          </p:cNvSpPr>
          <p:nvPr/>
        </p:nvSpPr>
        <p:spPr>
          <a:xfrm>
            <a:off x="4308960" y="1877716"/>
            <a:ext cx="3676393" cy="23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Propostas de Ação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bg1"/>
              </a:solidFill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Mapear picos de tempo gasto por tipo de aposta e horário;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Criar dashboard de performance com sinalizações quando transaction_time_sec &gt;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3s</a:t>
            </a:r>
            <a:r>
              <a:rPr lang="pt-BR" sz="1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Comparar taxa de sucesso de apostas antes/depois das otimizações;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Rastreamento de usuários convertidos via bônus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boas-vindas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pt-BR" sz="1200" dirty="0">
              <a:highlight>
                <a:srgbClr val="7DE5B0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bg1"/>
              </a:solidFill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pt-BR" sz="1200" b="1" dirty="0">
              <a:solidFill>
                <a:schemeClr val="bg1"/>
              </a:solidFill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46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09E2-7D96-8D83-AAC4-0155CA7B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1CC52889-A79E-BB37-9317-B4314A5E8A65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F607636-10A5-7E16-D913-3F6D0D78075D}"/>
              </a:ext>
            </a:extLst>
          </p:cNvPr>
          <p:cNvSpPr/>
          <p:nvPr/>
        </p:nvSpPr>
        <p:spPr>
          <a:xfrm>
            <a:off x="1150374" y="2212258"/>
            <a:ext cx="2788377" cy="4277032"/>
          </a:xfrm>
          <a:prstGeom prst="rect">
            <a:avLst/>
          </a:prstGeom>
          <a:solidFill>
            <a:srgbClr val="0C4A23"/>
          </a:solidFill>
          <a:ln>
            <a:solidFill>
              <a:srgbClr val="0C4A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CAED7FD-B5CD-580C-CCF9-AEDE105AF946}"/>
              </a:ext>
            </a:extLst>
          </p:cNvPr>
          <p:cNvSpPr/>
          <p:nvPr/>
        </p:nvSpPr>
        <p:spPr>
          <a:xfrm>
            <a:off x="4652399" y="2212258"/>
            <a:ext cx="2788377" cy="4277032"/>
          </a:xfrm>
          <a:prstGeom prst="rect">
            <a:avLst/>
          </a:prstGeom>
          <a:solidFill>
            <a:srgbClr val="02843A"/>
          </a:solidFill>
          <a:ln>
            <a:solidFill>
              <a:srgbClr val="0C4A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C0AD947-29A9-F5C1-CC14-274C7FBF3159}"/>
              </a:ext>
            </a:extLst>
          </p:cNvPr>
          <p:cNvSpPr/>
          <p:nvPr/>
        </p:nvSpPr>
        <p:spPr>
          <a:xfrm>
            <a:off x="8160948" y="2212258"/>
            <a:ext cx="2788377" cy="4277032"/>
          </a:xfrm>
          <a:prstGeom prst="rect">
            <a:avLst/>
          </a:prstGeom>
          <a:solidFill>
            <a:srgbClr val="03A53C"/>
          </a:solidFill>
          <a:ln>
            <a:solidFill>
              <a:srgbClr val="03A53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BED47368-22F9-B099-06C4-A8D510A48E7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5" name="Subtítulo 4">
            <a:extLst>
              <a:ext uri="{FF2B5EF4-FFF2-40B4-BE49-F238E27FC236}">
                <a16:creationId xmlns:a16="http://schemas.microsoft.com/office/drawing/2014/main" id="{B872094C-EF80-F4DB-D250-A40334373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114" y="1600870"/>
            <a:ext cx="9144000" cy="572727"/>
          </a:xfrm>
        </p:spPr>
        <p:txBody>
          <a:bodyPr/>
          <a:lstStyle/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KPIs Propostos para monitoramentos eficientes para o pilar de transações: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ubtítulo 4">
            <a:extLst>
              <a:ext uri="{FF2B5EF4-FFF2-40B4-BE49-F238E27FC236}">
                <a16:creationId xmlns:a16="http://schemas.microsoft.com/office/drawing/2014/main" id="{D1071770-E621-3969-8F33-D31E2446AA14}"/>
              </a:ext>
            </a:extLst>
          </p:cNvPr>
          <p:cNvSpPr txBox="1">
            <a:spLocks/>
          </p:cNvSpPr>
          <p:nvPr/>
        </p:nvSpPr>
        <p:spPr>
          <a:xfrm>
            <a:off x="1242675" y="3929633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Subtítulo 4">
            <a:extLst>
              <a:ext uri="{FF2B5EF4-FFF2-40B4-BE49-F238E27FC236}">
                <a16:creationId xmlns:a16="http://schemas.microsoft.com/office/drawing/2014/main" id="{1B830823-2FB8-36D3-7D69-362F3838C9EB}"/>
              </a:ext>
            </a:extLst>
          </p:cNvPr>
          <p:cNvSpPr txBox="1">
            <a:spLocks/>
          </p:cNvSpPr>
          <p:nvPr/>
        </p:nvSpPr>
        <p:spPr>
          <a:xfrm>
            <a:off x="4652399" y="3910779"/>
            <a:ext cx="2760020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4FCF92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Subtítulo 4">
            <a:extLst>
              <a:ext uri="{FF2B5EF4-FFF2-40B4-BE49-F238E27FC236}">
                <a16:creationId xmlns:a16="http://schemas.microsoft.com/office/drawing/2014/main" id="{ECCEE492-B8B9-534B-A24C-CD55C9D91EA6}"/>
              </a:ext>
            </a:extLst>
          </p:cNvPr>
          <p:cNvSpPr txBox="1">
            <a:spLocks/>
          </p:cNvSpPr>
          <p:nvPr/>
        </p:nvSpPr>
        <p:spPr>
          <a:xfrm>
            <a:off x="8212414" y="3905509"/>
            <a:ext cx="2672392" cy="1430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0" name="Imagem 19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58C2CFE9-28CC-8C9B-B9D6-94EC683B2B5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548372" y="2452441"/>
            <a:ext cx="996429" cy="996429"/>
          </a:xfrm>
          <a:prstGeom prst="rect">
            <a:avLst/>
          </a:prstGeom>
        </p:spPr>
      </p:pic>
      <p:pic>
        <p:nvPicPr>
          <p:cNvPr id="21" name="Imagem 20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F370AC0B-A183-46C4-F6CC-D0054D7D7C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21506" y="2452440"/>
            <a:ext cx="996429" cy="996429"/>
          </a:xfrm>
          <a:prstGeom prst="rect">
            <a:avLst/>
          </a:prstGeom>
        </p:spPr>
      </p:pic>
      <p:pic>
        <p:nvPicPr>
          <p:cNvPr id="22" name="Imagem 21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18D5B719-407C-E837-74A0-431CA1125C3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050397" y="2452441"/>
            <a:ext cx="996429" cy="996429"/>
          </a:xfrm>
          <a:prstGeom prst="rect">
            <a:avLst/>
          </a:prstGeom>
        </p:spPr>
      </p:pic>
      <p:sp>
        <p:nvSpPr>
          <p:cNvPr id="31" name="Elipse 30">
            <a:extLst>
              <a:ext uri="{FF2B5EF4-FFF2-40B4-BE49-F238E27FC236}">
                <a16:creationId xmlns:a16="http://schemas.microsoft.com/office/drawing/2014/main" id="{3AE43757-4014-3292-4AEA-24843A69BAF9}"/>
              </a:ext>
            </a:extLst>
          </p:cNvPr>
          <p:cNvSpPr/>
          <p:nvPr/>
        </p:nvSpPr>
        <p:spPr>
          <a:xfrm>
            <a:off x="2131889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14209E6B-FE5C-64B1-034C-741EE2E7A41C}"/>
              </a:ext>
            </a:extLst>
          </p:cNvPr>
          <p:cNvSpPr/>
          <p:nvPr/>
        </p:nvSpPr>
        <p:spPr>
          <a:xfrm>
            <a:off x="9242727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Subtítulo 4">
            <a:extLst>
              <a:ext uri="{FF2B5EF4-FFF2-40B4-BE49-F238E27FC236}">
                <a16:creationId xmlns:a16="http://schemas.microsoft.com/office/drawing/2014/main" id="{E64780F4-3DE7-0844-9D31-592610139D2C}"/>
              </a:ext>
            </a:extLst>
          </p:cNvPr>
          <p:cNvSpPr txBox="1">
            <a:spLocks/>
          </p:cNvSpPr>
          <p:nvPr/>
        </p:nvSpPr>
        <p:spPr>
          <a:xfrm>
            <a:off x="9132798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+2,5x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D41A9FC1-E59C-F862-7C70-104E690F3B91}"/>
              </a:ext>
            </a:extLst>
          </p:cNvPr>
          <p:cNvSpPr/>
          <p:nvPr/>
        </p:nvSpPr>
        <p:spPr>
          <a:xfrm>
            <a:off x="5687308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Subtítulo 4">
            <a:extLst>
              <a:ext uri="{FF2B5EF4-FFF2-40B4-BE49-F238E27FC236}">
                <a16:creationId xmlns:a16="http://schemas.microsoft.com/office/drawing/2014/main" id="{AE327AF1-BD39-8B11-D395-C1D7B77F4908}"/>
              </a:ext>
            </a:extLst>
          </p:cNvPr>
          <p:cNvSpPr txBox="1">
            <a:spLocks/>
          </p:cNvSpPr>
          <p:nvPr/>
        </p:nvSpPr>
        <p:spPr>
          <a:xfrm>
            <a:off x="5568352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-1,5x</a:t>
            </a:r>
          </a:p>
        </p:txBody>
      </p:sp>
      <p:sp>
        <p:nvSpPr>
          <p:cNvPr id="36" name="Subtítulo 4">
            <a:extLst>
              <a:ext uri="{FF2B5EF4-FFF2-40B4-BE49-F238E27FC236}">
                <a16:creationId xmlns:a16="http://schemas.microsoft.com/office/drawing/2014/main" id="{B594D21E-D467-BE40-D658-F4262D215E92}"/>
              </a:ext>
            </a:extLst>
          </p:cNvPr>
          <p:cNvSpPr txBox="1">
            <a:spLocks/>
          </p:cNvSpPr>
          <p:nvPr/>
        </p:nvSpPr>
        <p:spPr>
          <a:xfrm>
            <a:off x="2019544" y="5517287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-1,76x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1CEC8C11-4419-CE0E-A26D-C2F11C312E92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2.3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Transações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– KPIs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Subtítulo 4">
            <a:extLst>
              <a:ext uri="{FF2B5EF4-FFF2-40B4-BE49-F238E27FC236}">
                <a16:creationId xmlns:a16="http://schemas.microsoft.com/office/drawing/2014/main" id="{24EF0923-CD7D-6950-F8AB-22E3A01AE47A}"/>
              </a:ext>
            </a:extLst>
          </p:cNvPr>
          <p:cNvSpPr txBox="1">
            <a:spLocks/>
          </p:cNvSpPr>
          <p:nvPr/>
        </p:nvSpPr>
        <p:spPr>
          <a:xfrm>
            <a:off x="1174672" y="3689052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Tempo médio de transação</a:t>
            </a:r>
          </a:p>
          <a:p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Subtítulo 4">
            <a:extLst>
              <a:ext uri="{FF2B5EF4-FFF2-40B4-BE49-F238E27FC236}">
                <a16:creationId xmlns:a16="http://schemas.microsoft.com/office/drawing/2014/main" id="{3908586D-B7E3-9FD8-E1C9-9DC383531A45}"/>
              </a:ext>
            </a:extLst>
          </p:cNvPr>
          <p:cNvSpPr txBox="1">
            <a:spLocks/>
          </p:cNvSpPr>
          <p:nvPr/>
        </p:nvSpPr>
        <p:spPr>
          <a:xfrm>
            <a:off x="4723479" y="3783363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Taxa de timeout</a:t>
            </a:r>
          </a:p>
          <a:p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Subtítulo 4">
            <a:extLst>
              <a:ext uri="{FF2B5EF4-FFF2-40B4-BE49-F238E27FC236}">
                <a16:creationId xmlns:a16="http://schemas.microsoft.com/office/drawing/2014/main" id="{73F83A67-BD92-FA99-3F19-E1B1AB21B5C0}"/>
              </a:ext>
            </a:extLst>
          </p:cNvPr>
          <p:cNvSpPr txBox="1">
            <a:spLocks/>
          </p:cNvSpPr>
          <p:nvPr/>
        </p:nvSpPr>
        <p:spPr>
          <a:xfrm>
            <a:off x="8287925" y="3689052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Conversão de apostas</a:t>
            </a:r>
          </a:p>
          <a:p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Subtítulo 4">
            <a:extLst>
              <a:ext uri="{FF2B5EF4-FFF2-40B4-BE49-F238E27FC236}">
                <a16:creationId xmlns:a16="http://schemas.microsoft.com/office/drawing/2014/main" id="{E4CF70AD-ED3C-5624-D3A7-44F069F2E353}"/>
              </a:ext>
            </a:extLst>
          </p:cNvPr>
          <p:cNvSpPr txBox="1">
            <a:spLocks/>
          </p:cNvSpPr>
          <p:nvPr/>
        </p:nvSpPr>
        <p:spPr>
          <a:xfrm>
            <a:off x="8281033" y="4345767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Média monetária das apostas concluídas</a:t>
            </a:r>
          </a:p>
        </p:txBody>
      </p:sp>
      <p:sp>
        <p:nvSpPr>
          <p:cNvPr id="15" name="Subtítulo 4">
            <a:extLst>
              <a:ext uri="{FF2B5EF4-FFF2-40B4-BE49-F238E27FC236}">
                <a16:creationId xmlns:a16="http://schemas.microsoft.com/office/drawing/2014/main" id="{0840AA45-6F94-9319-CF66-6E0277AA31CC}"/>
              </a:ext>
            </a:extLst>
          </p:cNvPr>
          <p:cNvSpPr txBox="1">
            <a:spLocks/>
          </p:cNvSpPr>
          <p:nvPr/>
        </p:nvSpPr>
        <p:spPr>
          <a:xfrm>
            <a:off x="4737441" y="4345767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Percentual de transações que falharam</a:t>
            </a:r>
          </a:p>
        </p:txBody>
      </p:sp>
      <p:sp>
        <p:nvSpPr>
          <p:cNvPr id="16" name="Subtítulo 4">
            <a:extLst>
              <a:ext uri="{FF2B5EF4-FFF2-40B4-BE49-F238E27FC236}">
                <a16:creationId xmlns:a16="http://schemas.microsoft.com/office/drawing/2014/main" id="{2D31F479-3D89-6FE9-0EC7-77117ECD47C2}"/>
              </a:ext>
            </a:extLst>
          </p:cNvPr>
          <p:cNvSpPr txBox="1">
            <a:spLocks/>
          </p:cNvSpPr>
          <p:nvPr/>
        </p:nvSpPr>
        <p:spPr>
          <a:xfrm>
            <a:off x="1193849" y="4345767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dirty="0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Tempo médio entre início e conclusão de uma transação</a:t>
            </a:r>
          </a:p>
        </p:txBody>
      </p:sp>
      <p:pic>
        <p:nvPicPr>
          <p:cNvPr id="18" name="Imagem 17" descr="Forma&#10;&#10;O conteúdo gerado por IA pode estar incorreto.">
            <a:extLst>
              <a:ext uri="{FF2B5EF4-FFF2-40B4-BE49-F238E27FC236}">
                <a16:creationId xmlns:a16="http://schemas.microsoft.com/office/drawing/2014/main" id="{DC01D10F-9695-2D93-E0CF-0171F30149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889" y="2614781"/>
            <a:ext cx="536400" cy="536400"/>
          </a:xfrm>
          <a:prstGeom prst="rect">
            <a:avLst/>
          </a:prstGeom>
        </p:spPr>
      </p:pic>
      <p:pic>
        <p:nvPicPr>
          <p:cNvPr id="23" name="Imagem 22" descr="Forma&#10;&#10;O conteúdo gerado por IA pode estar incorreto.">
            <a:extLst>
              <a:ext uri="{FF2B5EF4-FFF2-40B4-BE49-F238E27FC236}">
                <a16:creationId xmlns:a16="http://schemas.microsoft.com/office/drawing/2014/main" id="{BE7CB884-690F-5994-3C81-799A35F904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936" y="2686162"/>
            <a:ext cx="536400" cy="536400"/>
          </a:xfrm>
          <a:prstGeom prst="rect">
            <a:avLst/>
          </a:prstGeom>
        </p:spPr>
      </p:pic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DE8BD37A-DD98-F88A-AF9D-D5F46D703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131" y="2650472"/>
            <a:ext cx="536400" cy="5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AD5D-4A0C-686D-F816-F30275A2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16F7CCD7-26E0-58D8-7021-182205E39EE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CaixaDeTexto 13">
            <a:extLst>
              <a:ext uri="{FF2B5EF4-FFF2-40B4-BE49-F238E27FC236}">
                <a16:creationId xmlns:a16="http://schemas.microsoft.com/office/drawing/2014/main" id="{60E0F811-57A6-5B0E-9282-F693CB4C45B8}"/>
              </a:ext>
            </a:extLst>
          </p:cNvPr>
          <p:cNvSpPr txBox="1"/>
          <p:nvPr/>
        </p:nvSpPr>
        <p:spPr>
          <a:xfrm>
            <a:off x="568135" y="1991033"/>
            <a:ext cx="9092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Output do cálculo das metas de atingimento para KPIs propostos: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4CE43F3-CF6D-7235-AC4B-8C1562171C31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5597D083-01E2-C6C1-061F-EEC6A1E2F95B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2.4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Transações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– Atingimentos Propostos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A4A4BB4-328E-773F-E304-0FF82B01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040" y="2877433"/>
            <a:ext cx="10134887" cy="1672958"/>
          </a:xfrm>
          <a:prstGeom prst="rect">
            <a:avLst/>
          </a:prstGeom>
        </p:spPr>
      </p:pic>
      <p:sp>
        <p:nvSpPr>
          <p:cNvPr id="17" name="CaixaDeTexto 13">
            <a:extLst>
              <a:ext uri="{FF2B5EF4-FFF2-40B4-BE49-F238E27FC236}">
                <a16:creationId xmlns:a16="http://schemas.microsoft.com/office/drawing/2014/main" id="{A635A242-CC9E-889C-D821-29D0D857E7AD}"/>
              </a:ext>
            </a:extLst>
          </p:cNvPr>
          <p:cNvSpPr txBox="1"/>
          <p:nvPr/>
        </p:nvSpPr>
        <p:spPr>
          <a:xfrm>
            <a:off x="1192040" y="5321309"/>
            <a:ext cx="9092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taxa de timeout é 16,67%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-1,5x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Reduzir falhas isoladas garante mais estabilidade e confiabilidade na plataforma.</a:t>
            </a:r>
          </a:p>
        </p:txBody>
      </p:sp>
      <p:sp>
        <p:nvSpPr>
          <p:cNvPr id="18" name="CaixaDeTexto 13">
            <a:extLst>
              <a:ext uri="{FF2B5EF4-FFF2-40B4-BE49-F238E27FC236}">
                <a16:creationId xmlns:a16="http://schemas.microsoft.com/office/drawing/2014/main" id="{9A394444-0ED5-F3AA-6709-2FCA2ACABFF5}"/>
              </a:ext>
            </a:extLst>
          </p:cNvPr>
          <p:cNvSpPr txBox="1"/>
          <p:nvPr/>
        </p:nvSpPr>
        <p:spPr>
          <a:xfrm>
            <a:off x="1389253" y="5845268"/>
            <a:ext cx="9408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conversão de apostas é 50% → meta </a:t>
            </a:r>
            <a:r>
              <a:rPr lang="pt-BR" sz="1200" b="1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+20p.p</a:t>
            </a:r>
            <a:r>
              <a:rPr lang="pt-BR"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Aumentar o engajamento e otimizar o processo de apostas pode elevar ainda mais esse indicador.</a:t>
            </a:r>
          </a:p>
        </p:txBody>
      </p:sp>
      <p:sp>
        <p:nvSpPr>
          <p:cNvPr id="19" name="CaixaDeTexto 13">
            <a:extLst>
              <a:ext uri="{FF2B5EF4-FFF2-40B4-BE49-F238E27FC236}">
                <a16:creationId xmlns:a16="http://schemas.microsoft.com/office/drawing/2014/main" id="{6EAD8457-0002-B785-E053-1E0574A68AEB}"/>
              </a:ext>
            </a:extLst>
          </p:cNvPr>
          <p:cNvSpPr txBox="1"/>
          <p:nvPr/>
        </p:nvSpPr>
        <p:spPr>
          <a:xfrm>
            <a:off x="864606" y="4797351"/>
            <a:ext cx="10651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 tempo médio de transação é 34,17s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-1,76x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Otimizar casos específicos pode reduzir ainda mais atrasos e melhorar a experiência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14074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8EC4-C5A7-66B5-6287-E6303807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65C3EE9A-B1FA-C740-CC9B-BFD6FD8E7875}"/>
              </a:ext>
            </a:extLst>
          </p:cNvPr>
          <p:cNvGrpSpPr/>
          <p:nvPr/>
        </p:nvGrpSpPr>
        <p:grpSpPr>
          <a:xfrm>
            <a:off x="3659615" y="3357269"/>
            <a:ext cx="4872767" cy="3325011"/>
            <a:chOff x="3006613" y="3326121"/>
            <a:chExt cx="4872767" cy="3325011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3" name="Modelo 3D 2">
                  <a:extLst>
                    <a:ext uri="{FF2B5EF4-FFF2-40B4-BE49-F238E27FC236}">
                      <a16:creationId xmlns:a16="http://schemas.microsoft.com/office/drawing/2014/main" id="{F5B3A053-CAE3-416D-24E9-D1E8EA85D80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63086453"/>
                    </p:ext>
                  </p:extLst>
                </p:nvPr>
              </p:nvGraphicFramePr>
              <p:xfrm>
                <a:off x="3006613" y="3326121"/>
                <a:ext cx="4872767" cy="3325011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4872767" cy="3325011"/>
                      </a:xfrm>
                      <a:prstGeom prst="rect">
                        <a:avLst/>
                      </a:prstGeom>
                    </am3d:spPr>
                    <am3d:camera>
                      <am3d:pos x="0" y="0" z="80272275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3443486" d="1000000"/>
                      <am3d:preTrans dx="-3259795" dy="462810" dz="-23008164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5968237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3" name="Modelo 3D 2">
                  <a:extLst>
                    <a:ext uri="{FF2B5EF4-FFF2-40B4-BE49-F238E27FC236}">
                      <a16:creationId xmlns:a16="http://schemas.microsoft.com/office/drawing/2014/main" id="{F5B3A053-CAE3-416D-24E9-D1E8EA85D80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9615" y="3357269"/>
                  <a:ext cx="4872767" cy="3325011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6058CD7-AC59-51D9-33B4-56252068E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6999" y="3574903"/>
              <a:ext cx="4074948" cy="2942663"/>
            </a:xfrm>
            <a:prstGeom prst="rect">
              <a:avLst/>
            </a:prstGeom>
          </p:spPr>
        </p:pic>
      </p:grp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976C7C23-7118-76C6-A3DD-1E078BD7E766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CaixaDeTexto 13">
            <a:extLst>
              <a:ext uri="{FF2B5EF4-FFF2-40B4-BE49-F238E27FC236}">
                <a16:creationId xmlns:a16="http://schemas.microsoft.com/office/drawing/2014/main" id="{9296EF7D-5113-6E31-0A96-A596C8D04DA1}"/>
              </a:ext>
            </a:extLst>
          </p:cNvPr>
          <p:cNvSpPr txBox="1"/>
          <p:nvPr/>
        </p:nvSpPr>
        <p:spPr>
          <a:xfrm>
            <a:off x="376406" y="1663186"/>
            <a:ext cx="8765499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Dos 6 feedbacks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coletados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(66,67%)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foram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categorizados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“</a:t>
            </a:r>
            <a:r>
              <a:rPr lang="en-US" b="1" dirty="0" err="1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”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6" name="CaixaDeTexto 13">
            <a:extLst>
              <a:ext uri="{FF2B5EF4-FFF2-40B4-BE49-F238E27FC236}">
                <a16:creationId xmlns:a16="http://schemas.microsoft.com/office/drawing/2014/main" id="{9FC54C59-6801-AE20-0A50-4D0C03C26618}"/>
              </a:ext>
            </a:extLst>
          </p:cNvPr>
          <p:cNvSpPr txBox="1"/>
          <p:nvPr/>
        </p:nvSpPr>
        <p:spPr>
          <a:xfrm>
            <a:off x="1327479" y="2128036"/>
            <a:ext cx="9537041" cy="592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Desses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feedbacks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específicos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a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maior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queixa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em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geral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foi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sobre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 </a:t>
            </a:r>
            <a:r>
              <a:rPr lang="en-US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“interface”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com um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sentimento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negativo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sobre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u="sng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confusão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u="sng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dificuldade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 </a:t>
            </a:r>
            <a:r>
              <a:rPr lang="en-US" u="sng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dúvidas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sobre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usar a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plataforma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FB19FEA-86F9-6087-1758-D1E2A9D0B7D9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D2046114-2C53-D2C3-7B7E-FB812276B41F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3.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e UX -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Análises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CaixaDeTexto 13">
            <a:extLst>
              <a:ext uri="{FF2B5EF4-FFF2-40B4-BE49-F238E27FC236}">
                <a16:creationId xmlns:a16="http://schemas.microsoft.com/office/drawing/2014/main" id="{83BD123A-BCE3-8DC0-FA39-3C63EB2D703A}"/>
              </a:ext>
            </a:extLst>
          </p:cNvPr>
          <p:cNvSpPr txBox="1"/>
          <p:nvPr/>
        </p:nvSpPr>
        <p:spPr>
          <a:xfrm>
            <a:off x="525838" y="2860753"/>
            <a:ext cx="10338682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3/6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usuários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não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completaram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transação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com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maiores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tempos de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tentativa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transação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(3-10s) </a:t>
            </a:r>
          </a:p>
        </p:txBody>
      </p:sp>
      <p:sp>
        <p:nvSpPr>
          <p:cNvPr id="2" name="CaixaDeTexto 13">
            <a:extLst>
              <a:ext uri="{FF2B5EF4-FFF2-40B4-BE49-F238E27FC236}">
                <a16:creationId xmlns:a16="http://schemas.microsoft.com/office/drawing/2014/main" id="{5D13EB63-E57D-CBA8-DA6B-331C4686DCDC}"/>
              </a:ext>
            </a:extLst>
          </p:cNvPr>
          <p:cNvSpPr txBox="1"/>
          <p:nvPr/>
        </p:nvSpPr>
        <p:spPr>
          <a:xfrm>
            <a:off x="4748392" y="6633647"/>
            <a:ext cx="2695212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800" b="1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Tool: Voyant Tools</a:t>
            </a:r>
            <a:endParaRPr lang="en-US" sz="800" i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54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92C1-27C5-54DD-4375-24EC0DF3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61192C1-9F34-3A16-C47B-9A3812F0CBAC}"/>
              </a:ext>
            </a:extLst>
          </p:cNvPr>
          <p:cNvSpPr/>
          <p:nvPr/>
        </p:nvSpPr>
        <p:spPr>
          <a:xfrm>
            <a:off x="129810" y="1801639"/>
            <a:ext cx="3780000" cy="2495121"/>
          </a:xfrm>
          <a:prstGeom prst="rect">
            <a:avLst/>
          </a:prstGeom>
          <a:solidFill>
            <a:srgbClr val="0C4A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0FC8622-F37E-189F-3E26-37F612191E53}"/>
              </a:ext>
            </a:extLst>
          </p:cNvPr>
          <p:cNvSpPr/>
          <p:nvPr/>
        </p:nvSpPr>
        <p:spPr>
          <a:xfrm>
            <a:off x="4205354" y="1801640"/>
            <a:ext cx="3780000" cy="2495120"/>
          </a:xfrm>
          <a:prstGeom prst="rect">
            <a:avLst/>
          </a:prstGeom>
          <a:solidFill>
            <a:srgbClr val="0284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94DE709-343F-3D3A-8E31-312DD12AA0E6}"/>
              </a:ext>
            </a:extLst>
          </p:cNvPr>
          <p:cNvSpPr/>
          <p:nvPr/>
        </p:nvSpPr>
        <p:spPr>
          <a:xfrm>
            <a:off x="8280898" y="1801640"/>
            <a:ext cx="3781291" cy="2495120"/>
          </a:xfrm>
          <a:prstGeom prst="rect">
            <a:avLst/>
          </a:prstGeom>
          <a:solidFill>
            <a:srgbClr val="03A5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C81314-1FEB-8E2C-8B3E-E6AA0164F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11" y="1877716"/>
            <a:ext cx="3618000" cy="2341198"/>
          </a:xfrm>
        </p:spPr>
        <p:txBody>
          <a:bodyPr>
            <a:noAutofit/>
          </a:bodyPr>
          <a:lstStyle/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Análise</a:t>
            </a:r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 clusterização de feedbacks por tema indicou 3 pontos críticos: </a:t>
            </a: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Navegação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pouco intuitiva entre categorias;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Falta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destaque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para apostas ao vivo;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Ausência de </a:t>
            </a:r>
            <a:r>
              <a:rPr lang="pt-BR" sz="1200" b="1" dirty="0" err="1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onboarding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visual.</a:t>
            </a: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629DDE48-34CF-082E-8F55-9E53978063E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CE1D9E61-1174-83A2-4C80-F4D0E0ED1DEA}"/>
              </a:ext>
            </a:extLst>
          </p:cNvPr>
          <p:cNvSpPr txBox="1">
            <a:spLocks/>
          </p:cNvSpPr>
          <p:nvPr/>
        </p:nvSpPr>
        <p:spPr>
          <a:xfrm>
            <a:off x="4308961" y="1877716"/>
            <a:ext cx="3541800" cy="23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3A53C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Propostas de Ação</a:t>
            </a:r>
          </a:p>
          <a:p>
            <a:pPr algn="l"/>
            <a:endParaRPr lang="pt-BR" sz="1200" b="1" dirty="0">
              <a:solidFill>
                <a:schemeClr val="bg1"/>
              </a:solidFill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1" dirty="0" err="1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Redesign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da arquitetura de navegação, priorizando jornadas “Live 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Bets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”;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Criação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manual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interativo e “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friendly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” de uso da ferramenta;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Testes A/B com novos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protótipos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interface;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Incentivo com cupom ou bônus a fim da coleta contínua e expandida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feedbacks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pós-implementação.</a:t>
            </a:r>
          </a:p>
        </p:txBody>
      </p:sp>
      <p:sp>
        <p:nvSpPr>
          <p:cNvPr id="13" name="Subtítulo 2">
            <a:extLst>
              <a:ext uri="{FF2B5EF4-FFF2-40B4-BE49-F238E27FC236}">
                <a16:creationId xmlns:a16="http://schemas.microsoft.com/office/drawing/2014/main" id="{6F1C26D6-F474-98C9-6B8A-14EA12F8BA47}"/>
              </a:ext>
            </a:extLst>
          </p:cNvPr>
          <p:cNvSpPr txBox="1">
            <a:spLocks/>
          </p:cNvSpPr>
          <p:nvPr/>
        </p:nvSpPr>
        <p:spPr>
          <a:xfrm>
            <a:off x="8488110" y="1877716"/>
            <a:ext cx="3574080" cy="234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highlight>
                  <a:srgbClr val="00863A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Impacto esperado</a:t>
            </a: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Redução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60%</a:t>
            </a:r>
            <a:r>
              <a:rPr lang="pt-BR" sz="1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nas reclamações de usabilidade em até 3 ciclos de releases;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Aumento do tempo médio de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permanência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na plataforma;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Redesign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da interface priorizando apostas ao vivo e jornada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intuitiva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Uso de 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heatmaps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 análise de cliques para guiar o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UX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redesign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l"/>
            <a:endParaRPr lang="pt-BR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2751644-3BBD-F336-70EF-1BD6A9F22C72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CaixaDeTexto 10">
            <a:extLst>
              <a:ext uri="{FF2B5EF4-FFF2-40B4-BE49-F238E27FC236}">
                <a16:creationId xmlns:a16="http://schemas.microsoft.com/office/drawing/2014/main" id="{3C9664EF-0981-BF24-6781-9B77C31A1F9E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3.1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e UX - Overview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9301B502-0BBA-8CC3-6494-C70797859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081300"/>
              </p:ext>
            </p:extLst>
          </p:nvPr>
        </p:nvGraphicFramePr>
        <p:xfrm>
          <a:off x="1504800" y="5381704"/>
          <a:ext cx="9029700" cy="762000"/>
        </p:xfrm>
        <a:graphic>
          <a:graphicData uri="http://schemas.openxmlformats.org/drawingml/2006/table">
            <a:tbl>
              <a:tblPr/>
              <a:tblGrid>
                <a:gridCol w="609386">
                  <a:extLst>
                    <a:ext uri="{9D8B030D-6E8A-4147-A177-3AD203B41FA5}">
                      <a16:colId xmlns:a16="http://schemas.microsoft.com/office/drawing/2014/main" val="3872237054"/>
                    </a:ext>
                  </a:extLst>
                </a:gridCol>
                <a:gridCol w="1193380">
                  <a:extLst>
                    <a:ext uri="{9D8B030D-6E8A-4147-A177-3AD203B41FA5}">
                      <a16:colId xmlns:a16="http://schemas.microsoft.com/office/drawing/2014/main" val="3979903596"/>
                    </a:ext>
                  </a:extLst>
                </a:gridCol>
                <a:gridCol w="2018590">
                  <a:extLst>
                    <a:ext uri="{9D8B030D-6E8A-4147-A177-3AD203B41FA5}">
                      <a16:colId xmlns:a16="http://schemas.microsoft.com/office/drawing/2014/main" val="3322868364"/>
                    </a:ext>
                  </a:extLst>
                </a:gridCol>
                <a:gridCol w="3199275">
                  <a:extLst>
                    <a:ext uri="{9D8B030D-6E8A-4147-A177-3AD203B41FA5}">
                      <a16:colId xmlns:a16="http://schemas.microsoft.com/office/drawing/2014/main" val="263678902"/>
                    </a:ext>
                  </a:extLst>
                </a:gridCol>
                <a:gridCol w="2009069">
                  <a:extLst>
                    <a:ext uri="{9D8B030D-6E8A-4147-A177-3AD203B41FA5}">
                      <a16:colId xmlns:a16="http://schemas.microsoft.com/office/drawing/2014/main" val="31574605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Deadline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Delivery 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Delivery Data Task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User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972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Relatório Executivo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Insights e plano de ação priorizado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Stakeholders e Diretoria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218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W1-W4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Mensal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Dashboard de Conversão e KPIs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Indicadores atualizados D-1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Produto, Marketing, Tecnologia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880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W5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Quinzenal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Reuniões de Acompanhamento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Discussão de resultados e próximos passos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Squads</a:t>
                      </a: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envolvidas (BU </a:t>
                      </a:r>
                      <a:r>
                        <a:rPr lang="pt-BR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iGaming</a:t>
                      </a:r>
                      <a:r>
                        <a:rPr lang="pt-B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118951"/>
                  </a:ext>
                </a:extLst>
              </a:tr>
            </a:tbl>
          </a:graphicData>
        </a:graphic>
      </p:graphicFrame>
      <p:sp>
        <p:nvSpPr>
          <p:cNvPr id="29" name="Retângulo 28">
            <a:extLst>
              <a:ext uri="{FF2B5EF4-FFF2-40B4-BE49-F238E27FC236}">
                <a16:creationId xmlns:a16="http://schemas.microsoft.com/office/drawing/2014/main" id="{4BCF1916-5EC0-7C19-FBDD-E54A0680212C}"/>
              </a:ext>
            </a:extLst>
          </p:cNvPr>
          <p:cNvSpPr/>
          <p:nvPr/>
        </p:nvSpPr>
        <p:spPr>
          <a:xfrm>
            <a:off x="-1" y="4637736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CaixaDeTexto 10">
            <a:extLst>
              <a:ext uri="{FF2B5EF4-FFF2-40B4-BE49-F238E27FC236}">
                <a16:creationId xmlns:a16="http://schemas.microsoft.com/office/drawing/2014/main" id="{08610B57-46C6-7E2D-AF35-6E5917F839DA}"/>
              </a:ext>
            </a:extLst>
          </p:cNvPr>
          <p:cNvSpPr txBox="1"/>
          <p:nvPr/>
        </p:nvSpPr>
        <p:spPr>
          <a:xfrm>
            <a:off x="239186" y="4668513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3.2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e UX –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Entregáveis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/Dados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0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E444F-6169-737C-8D73-FFD3256F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066F305B-2B95-D89E-A9A8-8F08A38A46A3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A30B9C-618A-31E1-CD23-4F0297ECDACE}"/>
              </a:ext>
            </a:extLst>
          </p:cNvPr>
          <p:cNvSpPr/>
          <p:nvPr/>
        </p:nvSpPr>
        <p:spPr>
          <a:xfrm>
            <a:off x="1150374" y="2212258"/>
            <a:ext cx="2788377" cy="4277032"/>
          </a:xfrm>
          <a:prstGeom prst="rect">
            <a:avLst/>
          </a:prstGeom>
          <a:solidFill>
            <a:srgbClr val="0C4A23"/>
          </a:solidFill>
          <a:ln>
            <a:solidFill>
              <a:srgbClr val="0C4A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7D3C34-A59B-DBB1-67FC-11A84886DB1E}"/>
              </a:ext>
            </a:extLst>
          </p:cNvPr>
          <p:cNvSpPr/>
          <p:nvPr/>
        </p:nvSpPr>
        <p:spPr>
          <a:xfrm>
            <a:off x="4652399" y="2212258"/>
            <a:ext cx="2788377" cy="4277032"/>
          </a:xfrm>
          <a:prstGeom prst="rect">
            <a:avLst/>
          </a:prstGeom>
          <a:solidFill>
            <a:srgbClr val="02843A"/>
          </a:solidFill>
          <a:ln>
            <a:solidFill>
              <a:srgbClr val="0C4A23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3401FDF-58D7-829D-BAA0-642A880F33E0}"/>
              </a:ext>
            </a:extLst>
          </p:cNvPr>
          <p:cNvSpPr/>
          <p:nvPr/>
        </p:nvSpPr>
        <p:spPr>
          <a:xfrm>
            <a:off x="8160948" y="2212258"/>
            <a:ext cx="2788377" cy="4277032"/>
          </a:xfrm>
          <a:prstGeom prst="rect">
            <a:avLst/>
          </a:prstGeom>
          <a:solidFill>
            <a:srgbClr val="03A53C"/>
          </a:solidFill>
          <a:ln>
            <a:solidFill>
              <a:srgbClr val="03A53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9D3FB638-C789-1ADA-F295-7D51180B31E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5" name="Subtítulo 4">
            <a:extLst>
              <a:ext uri="{FF2B5EF4-FFF2-40B4-BE49-F238E27FC236}">
                <a16:creationId xmlns:a16="http://schemas.microsoft.com/office/drawing/2014/main" id="{F7E43134-88C2-4A9F-F75D-0514B5FE3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114" y="1600870"/>
            <a:ext cx="9144000" cy="572727"/>
          </a:xfrm>
        </p:spPr>
        <p:txBody>
          <a:bodyPr/>
          <a:lstStyle/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KPIs Propostos para monitoramentos eficientes para o pilar de UX:</a:t>
            </a: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Subtítulo 4">
            <a:extLst>
              <a:ext uri="{FF2B5EF4-FFF2-40B4-BE49-F238E27FC236}">
                <a16:creationId xmlns:a16="http://schemas.microsoft.com/office/drawing/2014/main" id="{88C8C899-F520-7BC1-F4C5-F44FDF641D67}"/>
              </a:ext>
            </a:extLst>
          </p:cNvPr>
          <p:cNvSpPr txBox="1">
            <a:spLocks/>
          </p:cNvSpPr>
          <p:nvPr/>
        </p:nvSpPr>
        <p:spPr>
          <a:xfrm>
            <a:off x="1242675" y="3929633"/>
            <a:ext cx="2603773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Média de cliques bem-sucedidos em apostas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Live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vs</a:t>
            </a:r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Tempo de transação</a:t>
            </a:r>
          </a:p>
          <a:p>
            <a:endParaRPr lang="pt-B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Subtítulo 4">
            <a:extLst>
              <a:ext uri="{FF2B5EF4-FFF2-40B4-BE49-F238E27FC236}">
                <a16:creationId xmlns:a16="http://schemas.microsoft.com/office/drawing/2014/main" id="{BE842F45-C97C-F7D9-310B-311F5F52D041}"/>
              </a:ext>
            </a:extLst>
          </p:cNvPr>
          <p:cNvSpPr txBox="1">
            <a:spLocks/>
          </p:cNvSpPr>
          <p:nvPr/>
        </p:nvSpPr>
        <p:spPr>
          <a:xfrm>
            <a:off x="4652399" y="3910779"/>
            <a:ext cx="2760020" cy="1430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Percentual de feedbacks recebidos de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</a:p>
        </p:txBody>
      </p:sp>
      <p:sp>
        <p:nvSpPr>
          <p:cNvPr id="11" name="Subtítulo 4">
            <a:extLst>
              <a:ext uri="{FF2B5EF4-FFF2-40B4-BE49-F238E27FC236}">
                <a16:creationId xmlns:a16="http://schemas.microsoft.com/office/drawing/2014/main" id="{F8B4572E-39B6-115E-58E4-6502D3768A45}"/>
              </a:ext>
            </a:extLst>
          </p:cNvPr>
          <p:cNvSpPr txBox="1">
            <a:spLocks/>
          </p:cNvSpPr>
          <p:nvPr/>
        </p:nvSpPr>
        <p:spPr>
          <a:xfrm>
            <a:off x="8212414" y="3905509"/>
            <a:ext cx="2672392" cy="14307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Percentual de feedbacks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neutros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4FCF92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positivos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usabilidade</a:t>
            </a:r>
          </a:p>
        </p:txBody>
      </p:sp>
      <p:pic>
        <p:nvPicPr>
          <p:cNvPr id="20" name="Imagem 19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AD507C30-254E-D80F-819C-0BF98389D1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548372" y="2452441"/>
            <a:ext cx="996429" cy="996429"/>
          </a:xfrm>
          <a:prstGeom prst="rect">
            <a:avLst/>
          </a:prstGeom>
        </p:spPr>
      </p:pic>
      <p:pic>
        <p:nvPicPr>
          <p:cNvPr id="21" name="Imagem 20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51AC57F4-DA2F-F74D-BE6D-A60D4D48715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21506" y="2452440"/>
            <a:ext cx="996429" cy="996429"/>
          </a:xfrm>
          <a:prstGeom prst="rect">
            <a:avLst/>
          </a:prstGeom>
        </p:spPr>
      </p:pic>
      <p:pic>
        <p:nvPicPr>
          <p:cNvPr id="22" name="Imagem 21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D38889FC-FDC9-509B-58DA-F0324F648BA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050397" y="2452441"/>
            <a:ext cx="996429" cy="996429"/>
          </a:xfrm>
          <a:prstGeom prst="rect">
            <a:avLst/>
          </a:prstGeom>
        </p:spPr>
      </p:pic>
      <p:pic>
        <p:nvPicPr>
          <p:cNvPr id="24" name="Imagem 23" descr="Forma&#10;&#10;O conteúdo gerado por IA pode estar incorreto.">
            <a:extLst>
              <a:ext uri="{FF2B5EF4-FFF2-40B4-BE49-F238E27FC236}">
                <a16:creationId xmlns:a16="http://schemas.microsoft.com/office/drawing/2014/main" id="{20E351C7-3CBE-1403-093B-C7399CC82F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325" y="2551085"/>
            <a:ext cx="536790" cy="536790"/>
          </a:xfrm>
          <a:prstGeom prst="rect">
            <a:avLst/>
          </a:prstGeom>
        </p:spPr>
      </p:pic>
      <p:pic>
        <p:nvPicPr>
          <p:cNvPr id="27" name="Imagem 26" descr="Forma&#10;&#10;O conteúdo gerado por IA pode estar incorreto.">
            <a:extLst>
              <a:ext uri="{FF2B5EF4-FFF2-40B4-BE49-F238E27FC236}">
                <a16:creationId xmlns:a16="http://schemas.microsoft.com/office/drawing/2014/main" id="{BF424A92-0890-2EDD-EC37-64AB7D0C7B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780" y="2635292"/>
            <a:ext cx="477102" cy="477102"/>
          </a:xfrm>
          <a:prstGeom prst="rect">
            <a:avLst/>
          </a:prstGeom>
        </p:spPr>
      </p:pic>
      <p:pic>
        <p:nvPicPr>
          <p:cNvPr id="29" name="Imagem 28" descr="Forma&#10;&#10;O conteúdo gerado por IA pode estar incorreto.">
            <a:extLst>
              <a:ext uri="{FF2B5EF4-FFF2-40B4-BE49-F238E27FC236}">
                <a16:creationId xmlns:a16="http://schemas.microsoft.com/office/drawing/2014/main" id="{073A717B-18BC-FFF6-F656-275E2412F9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666" y="2635292"/>
            <a:ext cx="515889" cy="515889"/>
          </a:xfrm>
          <a:prstGeom prst="rect">
            <a:avLst/>
          </a:prstGeom>
        </p:spPr>
      </p:pic>
      <p:sp>
        <p:nvSpPr>
          <p:cNvPr id="31" name="Elipse 30">
            <a:extLst>
              <a:ext uri="{FF2B5EF4-FFF2-40B4-BE49-F238E27FC236}">
                <a16:creationId xmlns:a16="http://schemas.microsoft.com/office/drawing/2014/main" id="{56B6DC5E-C0D5-D53E-9788-A758A2DE9BE4}"/>
              </a:ext>
            </a:extLst>
          </p:cNvPr>
          <p:cNvSpPr/>
          <p:nvPr/>
        </p:nvSpPr>
        <p:spPr>
          <a:xfrm>
            <a:off x="2131889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B276503-080D-329A-EF06-A686C4E9B4CA}"/>
              </a:ext>
            </a:extLst>
          </p:cNvPr>
          <p:cNvSpPr/>
          <p:nvPr/>
        </p:nvSpPr>
        <p:spPr>
          <a:xfrm>
            <a:off x="9242727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Subtítulo 4">
            <a:extLst>
              <a:ext uri="{FF2B5EF4-FFF2-40B4-BE49-F238E27FC236}">
                <a16:creationId xmlns:a16="http://schemas.microsoft.com/office/drawing/2014/main" id="{2CCA6798-4F3F-87CE-9D04-0CF575E1C49F}"/>
              </a:ext>
            </a:extLst>
          </p:cNvPr>
          <p:cNvSpPr txBox="1">
            <a:spLocks/>
          </p:cNvSpPr>
          <p:nvPr/>
        </p:nvSpPr>
        <p:spPr>
          <a:xfrm>
            <a:off x="9132798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+1,3x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E7C0CDCB-F393-5F31-B1B6-DFF9C5D2D988}"/>
              </a:ext>
            </a:extLst>
          </p:cNvPr>
          <p:cNvSpPr/>
          <p:nvPr/>
        </p:nvSpPr>
        <p:spPr>
          <a:xfrm>
            <a:off x="5687308" y="5341551"/>
            <a:ext cx="786046" cy="731091"/>
          </a:xfrm>
          <a:prstGeom prst="ellipse">
            <a:avLst/>
          </a:prstGeom>
          <a:solidFill>
            <a:srgbClr val="B0FF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highlight>
                <a:srgbClr val="03A53C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Subtítulo 4">
            <a:extLst>
              <a:ext uri="{FF2B5EF4-FFF2-40B4-BE49-F238E27FC236}">
                <a16:creationId xmlns:a16="http://schemas.microsoft.com/office/drawing/2014/main" id="{3CC83BD6-99B5-FE41-6E91-76A68A180140}"/>
              </a:ext>
            </a:extLst>
          </p:cNvPr>
          <p:cNvSpPr txBox="1">
            <a:spLocks/>
          </p:cNvSpPr>
          <p:nvPr/>
        </p:nvSpPr>
        <p:spPr>
          <a:xfrm>
            <a:off x="5589572" y="5504968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-0,5x</a:t>
            </a:r>
          </a:p>
        </p:txBody>
      </p:sp>
      <p:sp>
        <p:nvSpPr>
          <p:cNvPr id="36" name="Subtítulo 4">
            <a:extLst>
              <a:ext uri="{FF2B5EF4-FFF2-40B4-BE49-F238E27FC236}">
                <a16:creationId xmlns:a16="http://schemas.microsoft.com/office/drawing/2014/main" id="{ED871D27-00EC-5BBC-D6B1-4AD8EC702D5D}"/>
              </a:ext>
            </a:extLst>
          </p:cNvPr>
          <p:cNvSpPr txBox="1">
            <a:spLocks/>
          </p:cNvSpPr>
          <p:nvPr/>
        </p:nvSpPr>
        <p:spPr>
          <a:xfrm>
            <a:off x="2003907" y="5517030"/>
            <a:ext cx="914028" cy="398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316370F5-5252-1511-EA7B-F3957DCB2D20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3.3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e UX – KPIs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359D-632E-45F4-DC04-9A0AB780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7162DB73-DEA7-1DBA-D798-AB34CC525B0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12" name="CaixaDeTexto 13">
            <a:extLst>
              <a:ext uri="{FF2B5EF4-FFF2-40B4-BE49-F238E27FC236}">
                <a16:creationId xmlns:a16="http://schemas.microsoft.com/office/drawing/2014/main" id="{DDA6C519-ABFB-6AF0-0FAD-54A2A40011A6}"/>
              </a:ext>
            </a:extLst>
          </p:cNvPr>
          <p:cNvSpPr txBox="1"/>
          <p:nvPr/>
        </p:nvSpPr>
        <p:spPr>
          <a:xfrm>
            <a:off x="568135" y="1991033"/>
            <a:ext cx="9092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Output do cálculo das metas de atingimento para KPIs propostos: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D810A24-EBD5-BDEB-F267-2D88FC46D59B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rgbClr val="7DE5B0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aixaDeTexto 10">
            <a:extLst>
              <a:ext uri="{FF2B5EF4-FFF2-40B4-BE49-F238E27FC236}">
                <a16:creationId xmlns:a16="http://schemas.microsoft.com/office/drawing/2014/main" id="{83FB4D48-E41F-69BD-8392-25D0CC713CAB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3.4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</a:rPr>
              <a:t> e UX – Atingimentos Propostos</a:t>
            </a:r>
            <a:endParaRPr lang="pt-BR" sz="22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aixaDeTexto 13">
            <a:extLst>
              <a:ext uri="{FF2B5EF4-FFF2-40B4-BE49-F238E27FC236}">
                <a16:creationId xmlns:a16="http://schemas.microsoft.com/office/drawing/2014/main" id="{F0B05413-7B3C-FA9F-419C-FA5DAB33CBC0}"/>
              </a:ext>
            </a:extLst>
          </p:cNvPr>
          <p:cNvSpPr txBox="1"/>
          <p:nvPr/>
        </p:nvSpPr>
        <p:spPr>
          <a:xfrm>
            <a:off x="1110559" y="3989138"/>
            <a:ext cx="9606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Orientamos a criação de uma coluna de análise de sentimentos para os feedbacks, permitindo medir efetivamente o KPI de feedbacks neutros e positivos.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Ainda não há registros de cliques bem-sucedidos em apostas Live; o tempo médio de transação acima do baseline reforça a necessidade de iniciativas para melhorar a performance da plataforma e a experiência do usuário.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8AE9C3C-D9BC-E0FE-3BDF-07F63D18F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040" y="2995752"/>
            <a:ext cx="9606144" cy="975624"/>
          </a:xfrm>
          <a:prstGeom prst="rect">
            <a:avLst/>
          </a:prstGeom>
        </p:spPr>
      </p:pic>
      <p:sp>
        <p:nvSpPr>
          <p:cNvPr id="17" name="CaixaDeTexto 13">
            <a:extLst>
              <a:ext uri="{FF2B5EF4-FFF2-40B4-BE49-F238E27FC236}">
                <a16:creationId xmlns:a16="http://schemas.microsoft.com/office/drawing/2014/main" id="{C89387E1-B91B-CDB3-9121-65DEF06F7315}"/>
              </a:ext>
            </a:extLst>
          </p:cNvPr>
          <p:cNvSpPr txBox="1"/>
          <p:nvPr/>
        </p:nvSpPr>
        <p:spPr>
          <a:xfrm>
            <a:off x="1192040" y="5321309"/>
            <a:ext cx="9092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Feedbacks de usabilidade 66,7%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33%</a:t>
            </a:r>
            <a:r>
              <a:rPr lang="pt-BR" sz="1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reduzindo pela metade (-0,5) para melhorar a experiência.</a:t>
            </a:r>
          </a:p>
        </p:txBody>
      </p:sp>
      <p:sp>
        <p:nvSpPr>
          <p:cNvPr id="19" name="CaixaDeTexto 13">
            <a:extLst>
              <a:ext uri="{FF2B5EF4-FFF2-40B4-BE49-F238E27FC236}">
                <a16:creationId xmlns:a16="http://schemas.microsoft.com/office/drawing/2014/main" id="{9D447867-481D-51E3-A608-7DDF90A88FAC}"/>
              </a:ext>
            </a:extLst>
          </p:cNvPr>
          <p:cNvSpPr txBox="1"/>
          <p:nvPr/>
        </p:nvSpPr>
        <p:spPr>
          <a:xfrm>
            <a:off x="1389253" y="5845268"/>
            <a:ext cx="94089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 tempo médio de transação é 60,67s.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-0,5x</a:t>
            </a:r>
            <a:r>
              <a:rPr lang="pt-BR" sz="1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Otimizar </a:t>
            </a:r>
            <a:r>
              <a:rPr lang="pt-BR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back-end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ou UX pode reduzir esse tempo, aumentando engajamento e diminuindo abandono da plataforma.</a:t>
            </a:r>
          </a:p>
        </p:txBody>
      </p:sp>
      <p:sp>
        <p:nvSpPr>
          <p:cNvPr id="20" name="CaixaDeTexto 13">
            <a:extLst>
              <a:ext uri="{FF2B5EF4-FFF2-40B4-BE49-F238E27FC236}">
                <a16:creationId xmlns:a16="http://schemas.microsoft.com/office/drawing/2014/main" id="{85E766A4-D27F-6CBC-914C-25B8BEAFFA0F}"/>
              </a:ext>
            </a:extLst>
          </p:cNvPr>
          <p:cNvSpPr txBox="1"/>
          <p:nvPr/>
        </p:nvSpPr>
        <p:spPr>
          <a:xfrm>
            <a:off x="864606" y="4797351"/>
            <a:ext cx="90920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Média de 3 cliques por sessão → meta </a:t>
            </a:r>
            <a:r>
              <a:rPr lang="pt-BR" sz="1200" b="1" dirty="0"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+1,5x</a:t>
            </a:r>
            <a:r>
              <a:rPr lang="pt-BR" sz="1200" b="1" dirty="0">
                <a:solidFill>
                  <a:schemeClr val="bg1"/>
                </a:solidFill>
                <a:highlight>
                  <a:srgbClr val="7DE5B0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para aumentar engajamento Live.</a:t>
            </a:r>
          </a:p>
        </p:txBody>
      </p:sp>
    </p:spTree>
    <p:extLst>
      <p:ext uri="{BB962C8B-B14F-4D97-AF65-F5344CB8AC3E}">
        <p14:creationId xmlns:p14="http://schemas.microsoft.com/office/powerpoint/2010/main" val="392174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E5B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7F6BC-3E1A-F5FC-5D95-C9A166B1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F37A6C8-1168-CC85-95B4-D1E51726C955}"/>
              </a:ext>
            </a:extLst>
          </p:cNvPr>
          <p:cNvSpPr/>
          <p:nvPr/>
        </p:nvSpPr>
        <p:spPr>
          <a:xfrm>
            <a:off x="6896100" y="1813878"/>
            <a:ext cx="5295900" cy="43088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476898A-34DA-F0F8-72F0-9F395CBD57E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pic>
        <p:nvPicPr>
          <p:cNvPr id="38" name="Imagem 37" descr="Interface gráfica do usuário, Aplicativo, PowerPoint&#10;&#10;O conteúdo gerado por IA pode estar incorreto.">
            <a:extLst>
              <a:ext uri="{FF2B5EF4-FFF2-40B4-BE49-F238E27FC236}">
                <a16:creationId xmlns:a16="http://schemas.microsoft.com/office/drawing/2014/main" id="{37ECEBE0-F153-31EB-D7BA-BB45670C6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732107"/>
            <a:ext cx="6014973" cy="4778876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96DFBC5-4A6F-8A2C-AAA2-9DC1D5897667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aixaDeTexto 10">
            <a:extLst>
              <a:ext uri="{FF2B5EF4-FFF2-40B4-BE49-F238E27FC236}">
                <a16:creationId xmlns:a16="http://schemas.microsoft.com/office/drawing/2014/main" id="{695DD680-07FB-9C68-A203-3E0BF4345F7A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4. Heatmap – </a:t>
            </a:r>
            <a:r>
              <a:rPr lang="en-US" sz="22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Correlação</a:t>
            </a:r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Entre </a:t>
            </a:r>
            <a:r>
              <a:rPr lang="en-US" sz="22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Variáveis</a:t>
            </a:r>
            <a:endParaRPr lang="pt-BR" sz="2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aixaDeTexto 13">
            <a:extLst>
              <a:ext uri="{FF2B5EF4-FFF2-40B4-BE49-F238E27FC236}">
                <a16:creationId xmlns:a16="http://schemas.microsoft.com/office/drawing/2014/main" id="{467599D7-E2B2-394E-DF56-97F234C99ACD}"/>
              </a:ext>
            </a:extLst>
          </p:cNvPr>
          <p:cNvSpPr txBox="1"/>
          <p:nvPr/>
        </p:nvSpPr>
        <p:spPr>
          <a:xfrm>
            <a:off x="6756400" y="2400759"/>
            <a:ext cx="52959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Apostas maiores tendem a </a:t>
            </a:r>
            <a:r>
              <a:rPr lang="pt-BR" sz="1200" dirty="0" err="1"/>
              <a:t>odds</a:t>
            </a:r>
            <a:r>
              <a:rPr lang="pt-BR" sz="1200" dirty="0"/>
              <a:t> menores, especialmente em apostas completadas.</a:t>
            </a:r>
          </a:p>
          <a:p>
            <a:endParaRPr lang="pt-B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Apostas com tempo de transação muito longo geralmente falham ou estão pendentes.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Clientes que apostam cedo e rápido tendem a apostar valores maiores.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 err="1"/>
              <a:t>Odds</a:t>
            </a:r>
            <a:r>
              <a:rPr lang="pt-BR" sz="1200" dirty="0"/>
              <a:t> mais altas correlacionam com sucesso na aposta e menor chance de feedback negativo.</a:t>
            </a:r>
          </a:p>
          <a:p>
            <a:pPr algn="just">
              <a:lnSpc>
                <a:spcPct val="150000"/>
              </a:lnSpc>
            </a:pPr>
            <a:endParaRPr lang="pt-BR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aixaDeTexto 10">
            <a:extLst>
              <a:ext uri="{FF2B5EF4-FFF2-40B4-BE49-F238E27FC236}">
                <a16:creationId xmlns:a16="http://schemas.microsoft.com/office/drawing/2014/main" id="{00F1F28C-0DBE-902E-A8DC-52D93B4FACCE}"/>
              </a:ext>
            </a:extLst>
          </p:cNvPr>
          <p:cNvSpPr txBox="1"/>
          <p:nvPr/>
        </p:nvSpPr>
        <p:spPr>
          <a:xfrm>
            <a:off x="8634943" y="1836928"/>
            <a:ext cx="22500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Insights</a:t>
            </a:r>
            <a:endParaRPr lang="pt-BR" sz="2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12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E5B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A0F38-20A2-9095-1F53-2546ECCA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1874E057-8AC0-6C61-9924-6CAD8ECB6F2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3C31337-E919-A41B-0155-6E25E770D2B3}"/>
              </a:ext>
            </a:extLst>
          </p:cNvPr>
          <p:cNvSpPr/>
          <p:nvPr/>
        </p:nvSpPr>
        <p:spPr>
          <a:xfrm>
            <a:off x="0" y="1064519"/>
            <a:ext cx="7052654" cy="43088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aixaDeTexto 10">
            <a:extLst>
              <a:ext uri="{FF2B5EF4-FFF2-40B4-BE49-F238E27FC236}">
                <a16:creationId xmlns:a16="http://schemas.microsoft.com/office/drawing/2014/main" id="{FF2C5C35-1E6D-3B97-4680-2491E325D4E0}"/>
              </a:ext>
            </a:extLst>
          </p:cNvPr>
          <p:cNvSpPr txBox="1"/>
          <p:nvPr/>
        </p:nvSpPr>
        <p:spPr>
          <a:xfrm>
            <a:off x="239187" y="1095296"/>
            <a:ext cx="77461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5. Fontes/Ferramentas</a:t>
            </a:r>
            <a:endParaRPr lang="pt-BR" sz="2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aixaDeTexto 13">
            <a:extLst>
              <a:ext uri="{FF2B5EF4-FFF2-40B4-BE49-F238E27FC236}">
                <a16:creationId xmlns:a16="http://schemas.microsoft.com/office/drawing/2014/main" id="{20E5D1D1-B182-04AB-71EA-52221ED6A266}"/>
              </a:ext>
            </a:extLst>
          </p:cNvPr>
          <p:cNvSpPr txBox="1"/>
          <p:nvPr/>
        </p:nvSpPr>
        <p:spPr>
          <a:xfrm>
            <a:off x="129811" y="1991033"/>
            <a:ext cx="9191989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Queries SQL: </a:t>
            </a:r>
            <a:r>
              <a:rPr lang="en-US" sz="2000" i="1" dirty="0">
                <a:latin typeface="Roboto" panose="02000000000000000000" pitchFamily="2" charset="0"/>
                <a:ea typeface="Roboto" panose="02000000000000000000" pitchFamily="2" charset="0"/>
                <a:hlinkClick r:id="rId3"/>
              </a:rPr>
              <a:t>Programiz.com</a:t>
            </a:r>
            <a:endParaRPr lang="en-US" sz="2000" i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</a:rPr>
              <a:t>Gráfico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hlinkClick r:id="rId4" action="ppaction://hlinksldjump"/>
              </a:rPr>
              <a:t>Word Links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</a:rPr>
              <a:t>Seção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</a:rPr>
              <a:t>Usabilidade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 e UX):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Voyant Tools </a:t>
            </a:r>
            <a:r>
              <a:rPr lang="pt-BR" sz="2000" i="1" dirty="0">
                <a:latin typeface="Roboto" panose="02000000000000000000" pitchFamily="2" charset="0"/>
                <a:ea typeface="Roboto" panose="02000000000000000000" pitchFamily="2" charset="0"/>
                <a:hlinkClick r:id="rId5"/>
              </a:rPr>
              <a:t>voyant-tools.org</a:t>
            </a:r>
            <a:endParaRPr lang="pt-BR" sz="2000" i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</a:rPr>
              <a:t>Gráfico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hlinkClick r:id="rId6" action="ppaction://hlinksldjump"/>
              </a:rPr>
              <a:t>Heatmap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–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hlinkClick r:id="rId7"/>
              </a:rPr>
              <a:t>Jupyter Lab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Roboto" panose="02000000000000000000" pitchFamily="2" charset="0"/>
                <a:ea typeface="Roboto" panose="02000000000000000000" pitchFamily="2" charset="0"/>
              </a:rPr>
              <a:t>Bibliotecas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</a:rPr>
              <a:t> Python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</a:rPr>
              <a:t>Numpy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Pandas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Matplotlib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Seaborn</a:t>
            </a: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</a:rPr>
              <a:t>Os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</a:rPr>
              <a:t>Textwrap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58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CF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E2967-B04D-3683-A152-082436E7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EEA4B75-DB69-6B97-4973-72CE47ED44CC}"/>
              </a:ext>
            </a:extLst>
          </p:cNvPr>
          <p:cNvSpPr/>
          <p:nvPr/>
        </p:nvSpPr>
        <p:spPr>
          <a:xfrm>
            <a:off x="0" y="0"/>
            <a:ext cx="12192000" cy="43457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E82BF1-986C-ED17-79A6-87182993E3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Obrigada</a:t>
            </a:r>
            <a:r>
              <a:rPr lang="pt-BR" b="1" dirty="0">
                <a:solidFill>
                  <a:srgbClr val="7DE5B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!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739D3C5C-19D5-4731-85DE-79C1948A8F5C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1" y="-797344"/>
            <a:ext cx="2788377" cy="2788377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hlinkClick r:id="rId3"/>
            <a:extLst>
              <a:ext uri="{FF2B5EF4-FFF2-40B4-BE49-F238E27FC236}">
                <a16:creationId xmlns:a16="http://schemas.microsoft.com/office/drawing/2014/main" id="{42543242-A736-38C7-37B5-F9226A690B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996" y="6312246"/>
            <a:ext cx="396094" cy="396094"/>
          </a:xfrm>
          <a:prstGeom prst="rect">
            <a:avLst/>
          </a:prstGeom>
        </p:spPr>
      </p:pic>
      <p:pic>
        <p:nvPicPr>
          <p:cNvPr id="10" name="Imagem 9" descr="Logotipo, Ícone&#10;&#10;O conteúdo gerado por IA pode estar incorreto.">
            <a:hlinkClick r:id="rId5"/>
            <a:extLst>
              <a:ext uri="{FF2B5EF4-FFF2-40B4-BE49-F238E27FC236}">
                <a16:creationId xmlns:a16="http://schemas.microsoft.com/office/drawing/2014/main" id="{AA674DCD-9779-72B4-264E-9AB7907563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672" y="6312246"/>
            <a:ext cx="396094" cy="396094"/>
          </a:xfrm>
          <a:prstGeom prst="rect">
            <a:avLst/>
          </a:prstGeom>
        </p:spPr>
      </p:pic>
      <p:pic>
        <p:nvPicPr>
          <p:cNvPr id="12" name="Imagem 11" descr="Ícone&#10;&#10;O conteúdo gerado por IA pode estar incorreto.">
            <a:hlinkClick r:id="rId7"/>
            <a:extLst>
              <a:ext uri="{FF2B5EF4-FFF2-40B4-BE49-F238E27FC236}">
                <a16:creationId xmlns:a16="http://schemas.microsoft.com/office/drawing/2014/main" id="{193BB1C1-FA55-A1F0-0DCE-55EEADE136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20" y="6312246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5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9682</TotalTime>
  <Words>1798</Words>
  <Application>Microsoft Office PowerPoint</Application>
  <PresentationFormat>Widescreen</PresentationFormat>
  <Paragraphs>261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Arial Unicode MS</vt:lpstr>
      <vt:lpstr>Roboto</vt:lpstr>
      <vt:lpstr>Wingdings</vt:lpstr>
      <vt:lpstr>Tema do Office</vt:lpstr>
      <vt:lpstr>Case Analítico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Tayná Alves</dc:creator>
  <cp:lastModifiedBy>Tayná Alves</cp:lastModifiedBy>
  <cp:revision>31</cp:revision>
  <dcterms:created xsi:type="dcterms:W3CDTF">2025-11-03T14:13:33Z</dcterms:created>
  <dcterms:modified xsi:type="dcterms:W3CDTF">2025-11-16T15:31:14Z</dcterms:modified>
</cp:coreProperties>
</file>